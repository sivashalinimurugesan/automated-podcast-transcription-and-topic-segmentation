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256" r:id="rId5"/>
    <p:sldId id="257" r:id="rId6"/>
    <p:sldId id="260" r:id="rId7"/>
    <p:sldId id="258" r:id="rId8"/>
    <p:sldId id="261" r:id="rId9"/>
    <p:sldId id="262" r:id="rId10"/>
    <p:sldId id="283" r:id="rId11"/>
    <p:sldId id="286" r:id="rId12"/>
    <p:sldId id="287" r:id="rId13"/>
    <p:sldId id="284" r:id="rId14"/>
    <p:sldId id="288" r:id="rId15"/>
    <p:sldId id="289" r:id="rId16"/>
    <p:sldId id="267" r:id="rId17"/>
    <p:sldId id="28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136"/>
    <a:srgbClr val="103350"/>
    <a:srgbClr val="0C4360"/>
    <a:srgbClr val="1B6872"/>
    <a:srgbClr val="63B7C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23204094900981E-2"/>
          <c:y val="3.6249501878741257E-2"/>
          <c:w val="0.89379810321874908"/>
          <c:h val="0.88918453021568111"/>
        </c:manualLayout>
      </c:layout>
      <c:barChart>
        <c:barDir val="col"/>
        <c:grouping val="clustered"/>
        <c:varyColors val="0"/>
        <c:dLbls>
          <c:showLegendKey val="0"/>
          <c:showVal val="0"/>
          <c:showCatName val="0"/>
          <c:showSerName val="0"/>
          <c:showPercent val="0"/>
          <c:showBubbleSize val="0"/>
        </c:dLbls>
        <c:gapWidth val="24"/>
        <c:axId val="1000041416"/>
        <c:axId val="1000041744"/>
      </c:barChart>
      <c:catAx>
        <c:axId val="1000041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00041744"/>
        <c:crosses val="autoZero"/>
        <c:auto val="1"/>
        <c:lblAlgn val="ctr"/>
        <c:lblOffset val="100"/>
        <c:noMultiLvlLbl val="0"/>
      </c:catAx>
      <c:valAx>
        <c:axId val="1000041744"/>
        <c:scaling>
          <c:orientation val="minMax"/>
        </c:scaling>
        <c:delete val="0"/>
        <c:axPos val="l"/>
        <c:numFmt formatCode="[$$-409]#,##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00041416"/>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23204094900981E-2"/>
          <c:y val="3.6249501878741257E-2"/>
          <c:w val="0.89379810321874908"/>
          <c:h val="0.88918453021568111"/>
        </c:manualLayout>
      </c:layout>
      <c:barChart>
        <c:barDir val="col"/>
        <c:grouping val="clustered"/>
        <c:varyColors val="0"/>
        <c:dLbls>
          <c:showLegendKey val="0"/>
          <c:showVal val="0"/>
          <c:showCatName val="0"/>
          <c:showSerName val="0"/>
          <c:showPercent val="0"/>
          <c:showBubbleSize val="0"/>
        </c:dLbls>
        <c:gapWidth val="24"/>
        <c:axId val="1000041416"/>
        <c:axId val="1000041744"/>
      </c:barChart>
      <c:catAx>
        <c:axId val="1000041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00041744"/>
        <c:crosses val="autoZero"/>
        <c:auto val="1"/>
        <c:lblAlgn val="ctr"/>
        <c:lblOffset val="100"/>
        <c:noMultiLvlLbl val="0"/>
      </c:catAx>
      <c:valAx>
        <c:axId val="1000041744"/>
        <c:scaling>
          <c:orientation val="minMax"/>
        </c:scaling>
        <c:delete val="0"/>
        <c:axPos val="l"/>
        <c:numFmt formatCode="[$$-409]#,##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00041416"/>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23204094900981E-2"/>
          <c:y val="3.6249501878741257E-2"/>
          <c:w val="0.89379810321874908"/>
          <c:h val="0.88918453021568111"/>
        </c:manualLayout>
      </c:layout>
      <c:barChart>
        <c:barDir val="col"/>
        <c:grouping val="clustered"/>
        <c:varyColors val="0"/>
        <c:dLbls>
          <c:showLegendKey val="0"/>
          <c:showVal val="0"/>
          <c:showCatName val="0"/>
          <c:showSerName val="0"/>
          <c:showPercent val="0"/>
          <c:showBubbleSize val="0"/>
        </c:dLbls>
        <c:gapWidth val="24"/>
        <c:axId val="1000041416"/>
        <c:axId val="1000041744"/>
      </c:barChart>
      <c:catAx>
        <c:axId val="1000041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00041744"/>
        <c:crosses val="autoZero"/>
        <c:auto val="1"/>
        <c:lblAlgn val="ctr"/>
        <c:lblOffset val="100"/>
        <c:noMultiLvlLbl val="0"/>
      </c:catAx>
      <c:valAx>
        <c:axId val="1000041744"/>
        <c:scaling>
          <c:orientation val="minMax"/>
        </c:scaling>
        <c:delete val="0"/>
        <c:axPos val="l"/>
        <c:numFmt formatCode="[$$-409]#,##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00041416"/>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1/19/2026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1/19/2026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11.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3666557" y="2948940"/>
            <a:ext cx="7077456" cy="1243584"/>
          </a:xfrm>
        </p:spPr>
        <p:txBody>
          <a:bodyPr/>
          <a:lstStyle/>
          <a:p>
            <a:r>
              <a:rPr lang="en-US" sz="6000" dirty="0"/>
              <a:t>PODCAST INTELLIGENCE DASHBOARD</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3666557" y="4094086"/>
            <a:ext cx="7077456" cy="868680"/>
          </a:xfrm>
        </p:spPr>
        <p:txBody>
          <a:bodyPr/>
          <a:lstStyle/>
          <a:p>
            <a:r>
              <a:rPr lang="en-US" dirty="0"/>
              <a:t>AI-powered system that automatically transcribes podcast audio</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2205228" y="574127"/>
            <a:ext cx="7781544" cy="859055"/>
          </a:xfrm>
        </p:spPr>
        <p:txBody>
          <a:bodyPr/>
          <a:lstStyle/>
          <a:p>
            <a:r>
              <a:rPr lang="en-US" dirty="0">
                <a:solidFill>
                  <a:schemeClr val="accent2"/>
                </a:solidFill>
              </a:rPr>
              <a:t>Table of Contents</a:t>
            </a:r>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idx="1"/>
          </p:nvPr>
        </p:nvSpPr>
        <p:spPr>
          <a:xfrm>
            <a:off x="1457001" y="1433182"/>
            <a:ext cx="8088215" cy="5079585"/>
          </a:xfrm>
        </p:spPr>
        <p:txBody>
          <a:bodyPr>
            <a:normAutofit/>
          </a:bodyPr>
          <a:lstStyle/>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solidFill>
                  <a:schemeClr val="bg1"/>
                </a:solidFill>
              </a:rPr>
              <a:t>Project Overview &amp; Objective</a:t>
            </a:r>
          </a:p>
          <a:p>
            <a:pPr marL="342900" indent="-342900">
              <a:buFont typeface="Arial" panose="020B0604020202020204" pitchFamily="34" charset="0"/>
              <a:buChar char="•"/>
            </a:pPr>
            <a:r>
              <a:rPr lang="en-US" sz="2000" b="1" dirty="0">
                <a:solidFill>
                  <a:schemeClr val="bg1"/>
                </a:solidFill>
              </a:rPr>
              <a:t>Methodology</a:t>
            </a:r>
          </a:p>
          <a:p>
            <a:pPr marL="342900" indent="-342900">
              <a:buFont typeface="Arial" panose="020B0604020202020204" pitchFamily="34" charset="0"/>
              <a:buChar char="•"/>
            </a:pPr>
            <a:r>
              <a:rPr lang="en-US" sz="2000" b="1" dirty="0">
                <a:solidFill>
                  <a:schemeClr val="bg1"/>
                </a:solidFill>
              </a:rPr>
              <a:t>Visualization</a:t>
            </a:r>
          </a:p>
          <a:p>
            <a:pPr marL="342900" indent="-342900">
              <a:buFont typeface="Arial" panose="020B0604020202020204" pitchFamily="34" charset="0"/>
              <a:buChar char="•"/>
            </a:pPr>
            <a:r>
              <a:rPr lang="en-US" sz="2000" b="1" dirty="0">
                <a:solidFill>
                  <a:schemeClr val="bg1"/>
                </a:solidFill>
              </a:rPr>
              <a:t>Approach</a:t>
            </a:r>
          </a:p>
          <a:p>
            <a:pPr marL="342900" indent="-342900">
              <a:buFont typeface="Arial" panose="020B0604020202020204" pitchFamily="34" charset="0"/>
              <a:buChar char="•"/>
            </a:pPr>
            <a:r>
              <a:rPr lang="en-US" sz="2000" b="1" dirty="0">
                <a:solidFill>
                  <a:schemeClr val="bg1"/>
                </a:solidFill>
              </a:rPr>
              <a:t>Model Architecture</a:t>
            </a:r>
          </a:p>
          <a:p>
            <a:pPr marL="342900" indent="-342900">
              <a:buFont typeface="Arial" panose="020B0604020202020204" pitchFamily="34" charset="0"/>
              <a:buChar char="•"/>
            </a:pPr>
            <a:r>
              <a:rPr lang="en-US" sz="2000" b="1" dirty="0">
                <a:solidFill>
                  <a:schemeClr val="bg1"/>
                </a:solidFill>
              </a:rPr>
              <a:t>Results</a:t>
            </a:r>
          </a:p>
          <a:p>
            <a:pPr marL="342900" indent="-342900">
              <a:buFont typeface="Arial" panose="020B0604020202020204" pitchFamily="34" charset="0"/>
              <a:buChar char="•"/>
            </a:pPr>
            <a:r>
              <a:rPr lang="en-US" sz="2000" b="1" dirty="0">
                <a:solidFill>
                  <a:schemeClr val="bg1"/>
                </a:solidFill>
              </a:rPr>
              <a:t>User Interface</a:t>
            </a:r>
          </a:p>
          <a:p>
            <a:pPr marL="342900" indent="-342900">
              <a:buFont typeface="Arial" panose="020B0604020202020204" pitchFamily="34" charset="0"/>
              <a:buChar char="•"/>
            </a:pPr>
            <a:r>
              <a:rPr lang="en-US" sz="2000" b="1" dirty="0">
                <a:solidFill>
                  <a:schemeClr val="bg1"/>
                </a:solidFill>
              </a:rPr>
              <a:t>Challenges &amp; Limitations</a:t>
            </a:r>
          </a:p>
          <a:p>
            <a:pPr marL="342900" indent="-342900">
              <a:buFont typeface="Arial" panose="020B0604020202020204" pitchFamily="34" charset="0"/>
              <a:buChar char="•"/>
            </a:pPr>
            <a:r>
              <a:rPr lang="en-US" sz="2000" b="1" dirty="0">
                <a:solidFill>
                  <a:schemeClr val="bg1"/>
                </a:solidFill>
              </a:rPr>
              <a:t>Future scope</a:t>
            </a:r>
          </a:p>
          <a:p>
            <a:pPr marL="342900" indent="-342900">
              <a:buFont typeface="Arial" panose="020B0604020202020204" pitchFamily="34" charset="0"/>
              <a:buChar char="•"/>
            </a:pPr>
            <a:r>
              <a:rPr lang="en-US" sz="2000" b="1" dirty="0">
                <a:solidFill>
                  <a:schemeClr val="bg1"/>
                </a:solidFill>
              </a:rPr>
              <a:t>Conclusion</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342646" y="405881"/>
            <a:ext cx="7781544" cy="859055"/>
          </a:xfrm>
        </p:spPr>
        <p:txBody>
          <a:bodyPr>
            <a:normAutofit/>
          </a:bodyPr>
          <a:lstStyle/>
          <a:p>
            <a:r>
              <a:rPr lang="en-US" dirty="0">
                <a:solidFill>
                  <a:schemeClr val="accent2"/>
                </a:solidFill>
              </a:rPr>
              <a:t>Project Overview:</a:t>
            </a:r>
          </a:p>
        </p:txBody>
      </p:sp>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a:xfrm>
            <a:off x="421303" y="1683359"/>
            <a:ext cx="10150282" cy="4530830"/>
          </a:xfrm>
        </p:spPr>
        <p:txBody>
          <a:bodyPr>
            <a:normAutofit/>
          </a:bodyPr>
          <a:lstStyle/>
          <a:p>
            <a:r>
              <a:rPr lang="en-US" sz="2000" b="1" dirty="0">
                <a:solidFill>
                  <a:schemeClr val="bg1"/>
                </a:solidFill>
              </a:rPr>
              <a:t>Podcasts often span several hours, making it difficult to locate specific discussions or topics. This system solves that problem by: Converting audio into accurate text transcripts. Structuring transcripts into smaller semantic segments. Extracting representative keywords for each segment. Generating initial summaries for quick understanding.</a:t>
            </a:r>
          </a:p>
          <a:p>
            <a:r>
              <a:rPr lang="en-US" sz="2000" b="1" u="sng" dirty="0">
                <a:solidFill>
                  <a:schemeClr val="accent2"/>
                </a:solidFill>
                <a:highlight>
                  <a:srgbClr val="002136"/>
                </a:highlight>
              </a:rPr>
              <a:t>Objective</a:t>
            </a:r>
            <a:r>
              <a:rPr lang="en-US" sz="2000" b="1" dirty="0">
                <a:solidFill>
                  <a:schemeClr val="accent2"/>
                </a:solidFill>
                <a:highlight>
                  <a:srgbClr val="002136"/>
                </a:highlight>
              </a:rPr>
              <a:t>:</a:t>
            </a:r>
          </a:p>
          <a:p>
            <a:r>
              <a:rPr lang="en-US" sz="2000" b="1" dirty="0">
                <a:solidFill>
                  <a:schemeClr val="bg1"/>
                </a:solidFill>
              </a:rPr>
              <a:t>Transcribe podcast audio using fast and accurate speech-to-text models. Preprocess and normalize audio for better transcription quality. Segment transcripts into manageable, topic-oriented chunks. Extract keywords for each segment to support topic discovery. Generate initial summaries to provide high-level context. Maintain a clean, modular, and extensible pipeline.</a:t>
            </a:r>
          </a:p>
          <a:p>
            <a:endParaRPr lang="en-US" sz="2000" b="1" dirty="0"/>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715087" y="272337"/>
            <a:ext cx="11214100" cy="840230"/>
          </a:xfrm>
        </p:spPr>
        <p:txBody>
          <a:bodyPr/>
          <a:lstStyle/>
          <a:p>
            <a:r>
              <a:rPr lang="en-US" sz="5400" dirty="0">
                <a:solidFill>
                  <a:schemeClr val="accent2"/>
                </a:solidFill>
              </a:rPr>
              <a:t>Methodology</a:t>
            </a:r>
            <a:endParaRPr lang="en-US" dirty="0">
              <a:solidFill>
                <a:schemeClr val="accent2"/>
              </a:solidFill>
            </a:endParaRP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388516" y="1175766"/>
            <a:ext cx="10276373" cy="5309010"/>
          </a:xfrm>
        </p:spPr>
        <p:txBody>
          <a:bodyPr/>
          <a:lstStyle/>
          <a:p>
            <a:r>
              <a:rPr lang="en-US" sz="1800" b="1" dirty="0">
                <a:solidFill>
                  <a:schemeClr val="accent1">
                    <a:lumMod val="40000"/>
                    <a:lumOff val="60000"/>
                  </a:schemeClr>
                </a:solidFill>
              </a:rPr>
              <a:t>Audio Ingestion and Preprocessing:</a:t>
            </a:r>
          </a:p>
          <a:p>
            <a:pPr marL="0" indent="0">
              <a:buNone/>
            </a:pPr>
            <a:r>
              <a:rPr lang="en-US" sz="1400" b="1" dirty="0"/>
              <a:t>	Users upload raw podcast audio files into the system.</a:t>
            </a:r>
          </a:p>
          <a:p>
            <a:pPr marL="0" indent="0">
              <a:buNone/>
            </a:pPr>
            <a:r>
              <a:rPr lang="en-US" sz="1400" b="1" dirty="0"/>
              <a:t>	Audio is normalized to ensure stable downstream processing.</a:t>
            </a:r>
          </a:p>
          <a:p>
            <a:pPr marL="0" indent="0">
              <a:buNone/>
            </a:pPr>
            <a:r>
              <a:rPr lang="en-US" sz="1400" b="1" dirty="0"/>
              <a:t>	Preprocessing operations include:</a:t>
            </a:r>
          </a:p>
          <a:p>
            <a:pPr marL="0" indent="0">
              <a:buNone/>
            </a:pPr>
            <a:r>
              <a:rPr lang="en-US" sz="1400" b="1" dirty="0"/>
              <a:t>	Silence removal, Noise reduction, Conversion to mono channel &amp; Resampling to 16 kHz</a:t>
            </a:r>
            <a:endParaRPr lang="en-US" sz="1400" dirty="0"/>
          </a:p>
          <a:p>
            <a:r>
              <a:rPr lang="en-US" sz="1800" b="1" dirty="0">
                <a:solidFill>
                  <a:schemeClr val="accent1">
                    <a:lumMod val="40000"/>
                    <a:lumOff val="60000"/>
                  </a:schemeClr>
                </a:solidFill>
              </a:rPr>
              <a:t>Speech Transcription</a:t>
            </a:r>
          </a:p>
          <a:p>
            <a:pPr marL="457200" lvl="1" indent="0">
              <a:buNone/>
            </a:pPr>
            <a:r>
              <a:rPr lang="en-US" b="1" dirty="0"/>
              <a:t>Preprocessed audio is converted into log-Mel spectrograms. An encoder–decoder architecture predicts text tokens with proper punctuation. The output is a high-quality, detailed text transcript.</a:t>
            </a:r>
          </a:p>
          <a:p>
            <a:r>
              <a:rPr lang="en-US" sz="1800" b="1" dirty="0">
                <a:solidFill>
                  <a:schemeClr val="accent1">
                    <a:lumMod val="40000"/>
                    <a:lumOff val="60000"/>
                  </a:schemeClr>
                </a:solidFill>
              </a:rPr>
              <a:t>Topic Segmentation and Text Analysis</a:t>
            </a:r>
          </a:p>
          <a:p>
            <a:pPr marL="0" indent="0">
              <a:buNone/>
            </a:pPr>
            <a:r>
              <a:rPr lang="en-US" sz="1400" b="1" dirty="0"/>
              <a:t>	The transcript is segmented sequentially into non-overlapping, topic-based sections. Segmentation 	preserves the natural flow of the original audio. Each segment undergoes lightweight NLP analysis, 	including:</a:t>
            </a:r>
          </a:p>
          <a:p>
            <a:pPr marL="0" indent="0">
              <a:buNone/>
            </a:pPr>
            <a:r>
              <a:rPr lang="en-US" sz="1400" b="1" dirty="0"/>
              <a:t>	Keyword extraction using frequency-based filtering Sentiment analysis using </a:t>
            </a:r>
            <a:r>
              <a:rPr lang="en-US" sz="1400" b="1" dirty="0" err="1"/>
              <a:t>TextBlob</a:t>
            </a:r>
            <a:r>
              <a:rPr lang="en-US" sz="1400" b="1" dirty="0"/>
              <a:t>.</a:t>
            </a:r>
            <a:endParaRPr lang="en-US" sz="1400" dirty="0"/>
          </a:p>
          <a:p>
            <a:r>
              <a:rPr lang="en-US" sz="1800" b="1" dirty="0">
                <a:solidFill>
                  <a:schemeClr val="accent1">
                    <a:lumMod val="40000"/>
                    <a:lumOff val="60000"/>
                  </a:schemeClr>
                </a:solidFill>
              </a:rPr>
              <a:t>Visualization and User Interaction</a:t>
            </a:r>
          </a:p>
          <a:p>
            <a:pPr marL="0" indent="0">
              <a:buNone/>
            </a:pPr>
            <a:r>
              <a:rPr lang="en-US" sz="1400" b="1" dirty="0"/>
              <a:t>	Using </a:t>
            </a:r>
            <a:r>
              <a:rPr lang="en-US" sz="1400" b="1" dirty="0" err="1"/>
              <a:t>Streamlit</a:t>
            </a:r>
            <a:r>
              <a:rPr lang="en-US" sz="1400" b="1" dirty="0"/>
              <a:t> UI the Analysis results are presented through an interactive </a:t>
            </a:r>
            <a:r>
              <a:rPr lang="en-US" sz="1400" b="1" dirty="0" err="1"/>
              <a:t>Streamlit</a:t>
            </a:r>
            <a:r>
              <a:rPr lang="en-US" sz="1400" b="1" dirty="0"/>
              <a:t> dashboard. </a:t>
            </a:r>
          </a:p>
          <a:p>
            <a:pPr marL="0" indent="0">
              <a:buNone/>
            </a:pPr>
            <a:r>
              <a:rPr lang="en-US" sz="1400" b="1" dirty="0"/>
              <a:t>	This interface enables efficient content exploration without listening to the entire audio recording.</a:t>
            </a:r>
            <a:endParaRPr lang="en-US" sz="1400" dirty="0"/>
          </a:p>
          <a:p>
            <a:pPr marL="0" indent="0">
              <a:buNone/>
            </a:pPr>
            <a:endParaRPr lang="en-US" sz="2000" dirty="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840230"/>
          </a:xfrm>
        </p:spPr>
        <p:txBody>
          <a:bodyPr/>
          <a:lstStyle/>
          <a:p>
            <a:r>
              <a:rPr lang="en-US" sz="5400" dirty="0">
                <a:solidFill>
                  <a:schemeClr val="accent2"/>
                </a:solidFill>
              </a:rPr>
              <a:t>Visualization</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p:txBody>
          <a:bodyPr/>
          <a:lstStyle/>
          <a:p>
            <a:r>
              <a:rPr lang="en-US" dirty="0"/>
              <a:t>Sentiment Analysis</a:t>
            </a:r>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a:xfrm>
            <a:off x="6094412" y="1951750"/>
            <a:ext cx="5157788" cy="553325"/>
          </a:xfrm>
        </p:spPr>
        <p:txBody>
          <a:bodyPr/>
          <a:lstStyle/>
          <a:p>
            <a:r>
              <a:rPr lang="en-US" dirty="0"/>
              <a:t>Keywords in Segments</a:t>
            </a:r>
          </a:p>
        </p:txBody>
      </p:sp>
      <p:pic>
        <p:nvPicPr>
          <p:cNvPr id="9" name="Picture 8">
            <a:extLst>
              <a:ext uri="{FF2B5EF4-FFF2-40B4-BE49-F238E27FC236}">
                <a16:creationId xmlns:a16="http://schemas.microsoft.com/office/drawing/2014/main" id="{CA526915-3A59-5F41-CDEA-86BCDB5D081D}"/>
              </a:ext>
            </a:extLst>
          </p:cNvPr>
          <p:cNvPicPr>
            <a:picLocks noChangeAspect="1"/>
          </p:cNvPicPr>
          <p:nvPr/>
        </p:nvPicPr>
        <p:blipFill>
          <a:blip r:embed="rId2"/>
          <a:srcRect r="53044"/>
          <a:stretch>
            <a:fillRect/>
          </a:stretch>
        </p:blipFill>
        <p:spPr>
          <a:xfrm>
            <a:off x="1080530" y="2161224"/>
            <a:ext cx="3885725" cy="4372290"/>
          </a:xfrm>
          <a:prstGeom prst="rect">
            <a:avLst/>
          </a:prstGeom>
        </p:spPr>
      </p:pic>
      <p:pic>
        <p:nvPicPr>
          <p:cNvPr id="11" name="Picture 10">
            <a:extLst>
              <a:ext uri="{FF2B5EF4-FFF2-40B4-BE49-F238E27FC236}">
                <a16:creationId xmlns:a16="http://schemas.microsoft.com/office/drawing/2014/main" id="{3C890DEA-2905-E56A-F7C3-DBE8FE80B63B}"/>
              </a:ext>
            </a:extLst>
          </p:cNvPr>
          <p:cNvPicPr>
            <a:picLocks noChangeAspect="1"/>
          </p:cNvPicPr>
          <p:nvPr/>
        </p:nvPicPr>
        <p:blipFill>
          <a:blip r:embed="rId3"/>
          <a:srcRect r="7505" b="7985"/>
          <a:stretch>
            <a:fillRect/>
          </a:stretch>
        </p:blipFill>
        <p:spPr>
          <a:xfrm>
            <a:off x="5719666" y="2593910"/>
            <a:ext cx="6204856" cy="2920482"/>
          </a:xfrm>
          <a:prstGeom prst="rect">
            <a:avLst/>
          </a:prstGeom>
        </p:spPr>
      </p:pic>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8ADB6C1-AA57-AC0B-F845-D5A135AD82DF}"/>
              </a:ext>
            </a:extLst>
          </p:cNvPr>
          <p:cNvSpPr>
            <a:spLocks noGrp="1"/>
          </p:cNvSpPr>
          <p:nvPr>
            <p:ph type="title"/>
          </p:nvPr>
        </p:nvSpPr>
        <p:spPr>
          <a:xfrm>
            <a:off x="444500" y="542925"/>
            <a:ext cx="11214100" cy="840230"/>
          </a:xfrm>
        </p:spPr>
        <p:txBody>
          <a:bodyPr/>
          <a:lstStyle/>
          <a:p>
            <a:r>
              <a:rPr lang="en-IN" sz="5400" dirty="0">
                <a:solidFill>
                  <a:schemeClr val="accent2"/>
                </a:solidFill>
              </a:rPr>
              <a:t>Approach</a:t>
            </a:r>
          </a:p>
        </p:txBody>
      </p:sp>
      <p:sp>
        <p:nvSpPr>
          <p:cNvPr id="9" name="Text Placeholder 8">
            <a:extLst>
              <a:ext uri="{FF2B5EF4-FFF2-40B4-BE49-F238E27FC236}">
                <a16:creationId xmlns:a16="http://schemas.microsoft.com/office/drawing/2014/main" id="{F870468F-572C-1ED0-2C28-C9636DFC0413}"/>
              </a:ext>
            </a:extLst>
          </p:cNvPr>
          <p:cNvSpPr>
            <a:spLocks noGrp="1"/>
          </p:cNvSpPr>
          <p:nvPr>
            <p:ph type="body" sz="quarter" idx="18"/>
          </p:nvPr>
        </p:nvSpPr>
        <p:spPr>
          <a:xfrm>
            <a:off x="719894" y="4240093"/>
            <a:ext cx="1776140" cy="1463040"/>
          </a:xfrm>
        </p:spPr>
        <p:txBody>
          <a:bodyPr/>
          <a:lstStyle/>
          <a:p>
            <a:r>
              <a:rPr lang="en-IN" sz="1600" b="1" dirty="0">
                <a:solidFill>
                  <a:schemeClr val="accent2"/>
                </a:solidFill>
              </a:rPr>
              <a:t>Audio Ingestion</a:t>
            </a:r>
          </a:p>
          <a:p>
            <a:r>
              <a:rPr lang="en-IN" dirty="0"/>
              <a:t>Preparing raw audio for optimal transcription quality.</a:t>
            </a:r>
          </a:p>
        </p:txBody>
      </p:sp>
      <p:pic>
        <p:nvPicPr>
          <p:cNvPr id="39" name="Picture Placeholder 38" descr="Microphone and piano">
            <a:extLst>
              <a:ext uri="{FF2B5EF4-FFF2-40B4-BE49-F238E27FC236}">
                <a16:creationId xmlns:a16="http://schemas.microsoft.com/office/drawing/2014/main" id="{8B481EC0-31C3-CDA3-120C-C871F3AB7F4B}"/>
              </a:ext>
            </a:extLst>
          </p:cNvPr>
          <p:cNvPicPr>
            <a:picLocks noGrp="1" noChangeAspect="1"/>
          </p:cNvPicPr>
          <p:nvPr>
            <p:ph type="pic" sz="quarter" idx="14"/>
          </p:nvPr>
        </p:nvPicPr>
        <p:blipFill>
          <a:blip r:embed="rId2"/>
          <a:srcRect l="16870" r="16870"/>
          <a:stretch>
            <a:fillRect/>
          </a:stretch>
        </p:blipFill>
        <p:spPr/>
      </p:pic>
      <p:sp>
        <p:nvSpPr>
          <p:cNvPr id="13" name="Text Placeholder 12">
            <a:extLst>
              <a:ext uri="{FF2B5EF4-FFF2-40B4-BE49-F238E27FC236}">
                <a16:creationId xmlns:a16="http://schemas.microsoft.com/office/drawing/2014/main" id="{CD06566C-8937-CC1B-29DB-D3246EFDE1CF}"/>
              </a:ext>
            </a:extLst>
          </p:cNvPr>
          <p:cNvSpPr>
            <a:spLocks noGrp="1"/>
          </p:cNvSpPr>
          <p:nvPr>
            <p:ph type="body" sz="quarter" idx="19"/>
          </p:nvPr>
        </p:nvSpPr>
        <p:spPr/>
        <p:txBody>
          <a:bodyPr/>
          <a:lstStyle/>
          <a:p>
            <a:r>
              <a:rPr lang="en-IN" sz="1600" b="1" dirty="0">
                <a:solidFill>
                  <a:schemeClr val="accent2"/>
                </a:solidFill>
              </a:rPr>
              <a:t>Speech Transcription</a:t>
            </a:r>
          </a:p>
          <a:p>
            <a:r>
              <a:rPr lang="en-IN" dirty="0"/>
              <a:t>Converting spoken words into accurate, searchable text.</a:t>
            </a:r>
          </a:p>
        </p:txBody>
      </p:sp>
      <p:sp>
        <p:nvSpPr>
          <p:cNvPr id="17" name="Text Placeholder 16">
            <a:extLst>
              <a:ext uri="{FF2B5EF4-FFF2-40B4-BE49-F238E27FC236}">
                <a16:creationId xmlns:a16="http://schemas.microsoft.com/office/drawing/2014/main" id="{E9F80C8C-2B92-E562-5BBD-341FF03F3628}"/>
              </a:ext>
            </a:extLst>
          </p:cNvPr>
          <p:cNvSpPr>
            <a:spLocks noGrp="1"/>
          </p:cNvSpPr>
          <p:nvPr>
            <p:ph type="body" sz="quarter" idx="20"/>
          </p:nvPr>
        </p:nvSpPr>
        <p:spPr/>
        <p:txBody>
          <a:bodyPr/>
          <a:lstStyle/>
          <a:p>
            <a:r>
              <a:rPr lang="en-IN" sz="1600" b="1" dirty="0">
                <a:solidFill>
                  <a:schemeClr val="accent2"/>
                </a:solidFill>
              </a:rPr>
              <a:t>Topic Segmentation and Text Analysis</a:t>
            </a:r>
          </a:p>
          <a:p>
            <a:r>
              <a:rPr lang="en-IN" dirty="0"/>
              <a:t>Structuring text into meaningful segments and extracting insights.</a:t>
            </a:r>
            <a:endParaRPr lang="en-IN" sz="1200" dirty="0"/>
          </a:p>
        </p:txBody>
      </p:sp>
      <p:pic>
        <p:nvPicPr>
          <p:cNvPr id="63" name="Picture Placeholder 62" descr="Magnifying glass showing decling performance">
            <a:extLst>
              <a:ext uri="{FF2B5EF4-FFF2-40B4-BE49-F238E27FC236}">
                <a16:creationId xmlns:a16="http://schemas.microsoft.com/office/drawing/2014/main" id="{49206201-A2B4-9FFA-3EA5-BC1AD27E5A3B}"/>
              </a:ext>
            </a:extLst>
          </p:cNvPr>
          <p:cNvPicPr>
            <a:picLocks noGrp="1" noChangeAspect="1"/>
          </p:cNvPicPr>
          <p:nvPr>
            <p:ph type="pic" sz="quarter" idx="16"/>
          </p:nvPr>
        </p:nvPicPr>
        <p:blipFill>
          <a:blip r:embed="rId3"/>
          <a:srcRect l="16675" r="16675"/>
          <a:stretch>
            <a:fillRect/>
          </a:stretch>
        </p:blipFill>
        <p:spPr/>
      </p:pic>
      <p:sp>
        <p:nvSpPr>
          <p:cNvPr id="28" name="Text Placeholder 27">
            <a:extLst>
              <a:ext uri="{FF2B5EF4-FFF2-40B4-BE49-F238E27FC236}">
                <a16:creationId xmlns:a16="http://schemas.microsoft.com/office/drawing/2014/main" id="{CBC0013C-07B4-C498-50BF-8827F6F89AD9}"/>
              </a:ext>
            </a:extLst>
          </p:cNvPr>
          <p:cNvSpPr>
            <a:spLocks noGrp="1"/>
          </p:cNvSpPr>
          <p:nvPr>
            <p:ph type="body" sz="quarter" idx="21"/>
          </p:nvPr>
        </p:nvSpPr>
        <p:spPr/>
        <p:txBody>
          <a:bodyPr/>
          <a:lstStyle/>
          <a:p>
            <a:r>
              <a:rPr lang="en-IN" sz="1600" b="1" dirty="0">
                <a:solidFill>
                  <a:schemeClr val="accent2"/>
                </a:solidFill>
              </a:rPr>
              <a:t>Sentiment Analysis</a:t>
            </a:r>
          </a:p>
          <a:p>
            <a:r>
              <a:rPr lang="en-IN" dirty="0"/>
              <a:t>Sentiment analysis for each segment.</a:t>
            </a:r>
          </a:p>
        </p:txBody>
      </p:sp>
      <p:pic>
        <p:nvPicPr>
          <p:cNvPr id="65" name="Picture Placeholder 64" descr="Businessperson on a computer">
            <a:extLst>
              <a:ext uri="{FF2B5EF4-FFF2-40B4-BE49-F238E27FC236}">
                <a16:creationId xmlns:a16="http://schemas.microsoft.com/office/drawing/2014/main" id="{6A07DABA-28B4-098B-2E20-59662FFD3CA0}"/>
              </a:ext>
            </a:extLst>
          </p:cNvPr>
          <p:cNvPicPr>
            <a:picLocks noGrp="1" noChangeAspect="1"/>
          </p:cNvPicPr>
          <p:nvPr>
            <p:ph type="pic" sz="quarter" idx="17"/>
          </p:nvPr>
        </p:nvPicPr>
        <p:blipFill>
          <a:blip r:embed="rId4"/>
          <a:srcRect l="21840" r="21840"/>
          <a:stretch>
            <a:fillRect/>
          </a:stretch>
        </p:blipFill>
        <p:spPr/>
      </p:pic>
      <p:sp>
        <p:nvSpPr>
          <p:cNvPr id="35" name="Text Placeholder 34">
            <a:extLst>
              <a:ext uri="{FF2B5EF4-FFF2-40B4-BE49-F238E27FC236}">
                <a16:creationId xmlns:a16="http://schemas.microsoft.com/office/drawing/2014/main" id="{21DC3128-F93C-10FE-9A80-E167067FD509}"/>
              </a:ext>
            </a:extLst>
          </p:cNvPr>
          <p:cNvSpPr>
            <a:spLocks noGrp="1"/>
          </p:cNvSpPr>
          <p:nvPr>
            <p:ph type="body" sz="quarter" idx="22"/>
          </p:nvPr>
        </p:nvSpPr>
        <p:spPr/>
        <p:txBody>
          <a:bodyPr/>
          <a:lstStyle/>
          <a:p>
            <a:r>
              <a:rPr lang="en-IN" sz="1600" b="1" dirty="0">
                <a:solidFill>
                  <a:schemeClr val="accent2"/>
                </a:solidFill>
              </a:rPr>
              <a:t>Visualization</a:t>
            </a:r>
            <a:endParaRPr lang="en-IN" b="1" dirty="0">
              <a:solidFill>
                <a:schemeClr val="accent2"/>
              </a:solidFill>
            </a:endParaRPr>
          </a:p>
          <a:p>
            <a:r>
              <a:rPr lang="en-IN" dirty="0"/>
              <a:t>Presenting insights through an intuitive and interactive interface.</a:t>
            </a:r>
          </a:p>
        </p:txBody>
      </p:sp>
      <p:pic>
        <p:nvPicPr>
          <p:cNvPr id="55" name="Picture Placeholder 54" descr="Close-up of knobs on amplifier">
            <a:extLst>
              <a:ext uri="{FF2B5EF4-FFF2-40B4-BE49-F238E27FC236}">
                <a16:creationId xmlns:a16="http://schemas.microsoft.com/office/drawing/2014/main" id="{1A76D46E-DE4D-4AC4-7F04-96AD7779D441}"/>
              </a:ext>
            </a:extLst>
          </p:cNvPr>
          <p:cNvPicPr>
            <a:picLocks noGrp="1" noChangeAspect="1"/>
          </p:cNvPicPr>
          <p:nvPr>
            <p:ph type="pic" sz="quarter" idx="13"/>
          </p:nvPr>
        </p:nvPicPr>
        <p:blipFill>
          <a:blip r:embed="rId5"/>
          <a:srcRect l="16584" r="16584"/>
          <a:stretch>
            <a:fillRect/>
          </a:stretch>
        </p:blipFill>
        <p:spPr/>
      </p:pic>
      <p:pic>
        <p:nvPicPr>
          <p:cNvPr id="61" name="Picture Placeholder 60" descr="Empty calendar with pencil">
            <a:extLst>
              <a:ext uri="{FF2B5EF4-FFF2-40B4-BE49-F238E27FC236}">
                <a16:creationId xmlns:a16="http://schemas.microsoft.com/office/drawing/2014/main" id="{C2F30884-4EC2-20EE-681E-BBC0A0D7D87D}"/>
              </a:ext>
            </a:extLst>
          </p:cNvPr>
          <p:cNvPicPr>
            <a:picLocks noGrp="1" noChangeAspect="1"/>
          </p:cNvPicPr>
          <p:nvPr>
            <p:ph type="pic" sz="quarter" idx="15"/>
          </p:nvPr>
        </p:nvPicPr>
        <p:blipFill>
          <a:blip r:embed="rId6"/>
          <a:srcRect l="16633" r="16633"/>
          <a:stretch>
            <a:fillRect/>
          </a:stretch>
        </p:blipFill>
        <p:spPr/>
      </p:pic>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840230"/>
          </a:xfrm>
        </p:spPr>
        <p:txBody>
          <a:bodyPr/>
          <a:lstStyle/>
          <a:p>
            <a:r>
              <a:rPr lang="en-US" sz="5400" dirty="0">
                <a:solidFill>
                  <a:schemeClr val="accent2"/>
                </a:solidFill>
              </a:rPr>
              <a:t>Model Architecture</a:t>
            </a:r>
            <a:endParaRPr lang="en-US" dirty="0">
              <a:solidFill>
                <a:schemeClr val="accent2"/>
              </a:solidFill>
            </a:endParaRPr>
          </a:p>
        </p:txBody>
      </p:sp>
      <p:sp>
        <p:nvSpPr>
          <p:cNvPr id="2" name="Slide Number Placeholder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a:lstStyle/>
          <a:p>
            <a:fld id="{C263D6C4-4840-40CC-AC84-17E24B3B7BDE}" type="slidenum">
              <a:rPr lang="en-US" smtClean="0"/>
              <a:pPr/>
              <a:t>7</a:t>
            </a:fld>
            <a:endParaRPr lang="en-US" dirty="0"/>
          </a:p>
        </p:txBody>
      </p:sp>
      <p:pic>
        <p:nvPicPr>
          <p:cNvPr id="17" name="Picture Placeholder 16">
            <a:extLst>
              <a:ext uri="{FF2B5EF4-FFF2-40B4-BE49-F238E27FC236}">
                <a16:creationId xmlns:a16="http://schemas.microsoft.com/office/drawing/2014/main" id="{096A9662-AFE9-9527-A9A0-359E703F3F14}"/>
              </a:ext>
            </a:extLst>
          </p:cNvPr>
          <p:cNvPicPr>
            <a:picLocks noGrp="1" noChangeAspect="1"/>
          </p:cNvPicPr>
          <p:nvPr>
            <p:ph type="pic" sz="quarter" idx="19"/>
          </p:nvPr>
        </p:nvPicPr>
        <p:blipFill>
          <a:blip r:embed="rId2"/>
          <a:srcRect l="18164" t="-4" r="17738" b="2332"/>
          <a:stretch>
            <a:fillRect/>
          </a:stretch>
        </p:blipFill>
        <p:spPr>
          <a:xfrm>
            <a:off x="7165196" y="204108"/>
            <a:ext cx="4269884" cy="6506572"/>
          </a:xfrm>
          <a:ln w="38100">
            <a:solidFill>
              <a:schemeClr val="tx1"/>
            </a:solidFill>
          </a:ln>
        </p:spPr>
      </p:pic>
      <p:sp>
        <p:nvSpPr>
          <p:cNvPr id="20" name="TextBox 19">
            <a:extLst>
              <a:ext uri="{FF2B5EF4-FFF2-40B4-BE49-F238E27FC236}">
                <a16:creationId xmlns:a16="http://schemas.microsoft.com/office/drawing/2014/main" id="{35A21DC6-991B-82E0-D492-3F8E73A265F9}"/>
              </a:ext>
            </a:extLst>
          </p:cNvPr>
          <p:cNvSpPr txBox="1"/>
          <p:nvPr/>
        </p:nvSpPr>
        <p:spPr>
          <a:xfrm>
            <a:off x="640080" y="1859280"/>
            <a:ext cx="5808836" cy="4524315"/>
          </a:xfrm>
          <a:prstGeom prst="rect">
            <a:avLst/>
          </a:prstGeom>
          <a:noFill/>
        </p:spPr>
        <p:txBody>
          <a:bodyPr wrap="square" rtlCol="0">
            <a:spAutoFit/>
          </a:bodyPr>
          <a:lstStyle/>
          <a:p>
            <a:r>
              <a:rPr lang="en-US" sz="1600" b="1" dirty="0">
                <a:solidFill>
                  <a:schemeClr val="bg1"/>
                </a:solidFill>
              </a:rPr>
              <a:t>The project follows a monolithic, pipeline-based architecture implemented using </a:t>
            </a:r>
            <a:r>
              <a:rPr lang="en-US" sz="1600" b="1" dirty="0" err="1">
                <a:solidFill>
                  <a:schemeClr val="bg1"/>
                </a:solidFill>
              </a:rPr>
              <a:t>Streamlit</a:t>
            </a:r>
            <a:r>
              <a:rPr lang="en-US" sz="1600" b="1" dirty="0">
                <a:solidFill>
                  <a:schemeClr val="bg1"/>
                </a:solidFill>
              </a:rPr>
              <a:t>, where both the user interface and backend processing are integrated within a single application. User-uploaded podcast audio is first preprocessed to remove silence and noise, converted to a mono channel, and resampled to 16 kHz to ensure compatibility with the transcription model. The cleaned audio is then passed to the OpenAI Whisper transformer-based speech-to-text model to generate an accurate transcript. This transcript is sequentially segmented into topic-based sections, followed by keyword extraction and sentiment analysis for each segment. All processed outputs, including transcripts, segments, sentiment indicators, and keyword visualizations, are presented through an interactive </a:t>
            </a:r>
            <a:r>
              <a:rPr lang="en-US" sz="1600" b="1" dirty="0" err="1">
                <a:solidFill>
                  <a:schemeClr val="bg1"/>
                </a:solidFill>
              </a:rPr>
              <a:t>Streamlit</a:t>
            </a:r>
            <a:r>
              <a:rPr lang="en-US" sz="1600" b="1" dirty="0">
                <a:solidFill>
                  <a:schemeClr val="bg1"/>
                </a:solidFill>
              </a:rPr>
              <a:t> dashboard, enabling efficient exploration of long-form audio content.</a:t>
            </a:r>
          </a:p>
          <a:p>
            <a:endParaRPr lang="en-IN" sz="1600" dirty="0"/>
          </a:p>
        </p:txBody>
      </p:sp>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E78A5-B541-A18F-BE52-72B79EEB127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87E9086-D8A9-C12D-9CE1-C4BD3DFA26F4}"/>
              </a:ext>
            </a:extLst>
          </p:cNvPr>
          <p:cNvSpPr>
            <a:spLocks noGrp="1"/>
          </p:cNvSpPr>
          <p:nvPr>
            <p:ph type="title"/>
          </p:nvPr>
        </p:nvSpPr>
        <p:spPr>
          <a:xfrm>
            <a:off x="312420" y="431165"/>
            <a:ext cx="11214100" cy="840230"/>
          </a:xfrm>
        </p:spPr>
        <p:txBody>
          <a:bodyPr/>
          <a:lstStyle/>
          <a:p>
            <a:r>
              <a:rPr lang="en-IN" sz="5400" dirty="0">
                <a:solidFill>
                  <a:schemeClr val="accent2"/>
                </a:solidFill>
              </a:rPr>
              <a:t>Results</a:t>
            </a:r>
            <a:endParaRPr lang="en-US" sz="5400" dirty="0"/>
          </a:p>
        </p:txBody>
      </p:sp>
      <p:sp>
        <p:nvSpPr>
          <p:cNvPr id="19" name="Text Placeholder 18">
            <a:extLst>
              <a:ext uri="{FF2B5EF4-FFF2-40B4-BE49-F238E27FC236}">
                <a16:creationId xmlns:a16="http://schemas.microsoft.com/office/drawing/2014/main" id="{FD387A95-52EE-B4A5-EFC2-CC29EF254748}"/>
              </a:ext>
            </a:extLst>
          </p:cNvPr>
          <p:cNvSpPr>
            <a:spLocks noGrp="1"/>
          </p:cNvSpPr>
          <p:nvPr>
            <p:ph type="body" sz="quarter" idx="18"/>
          </p:nvPr>
        </p:nvSpPr>
        <p:spPr>
          <a:xfrm>
            <a:off x="419876" y="1692417"/>
            <a:ext cx="9638524" cy="4540432"/>
          </a:xfrm>
        </p:spPr>
        <p:txBody>
          <a:bodyPr/>
          <a:lstStyle/>
          <a:p>
            <a:r>
              <a:rPr lang="en-US" sz="2000" b="1" dirty="0"/>
              <a:t>1.Audio Preprocessing:</a:t>
            </a:r>
            <a:endParaRPr lang="en-US" sz="2000" dirty="0"/>
          </a:p>
          <a:p>
            <a:pPr marL="285750" indent="-285750">
              <a:buFont typeface="Arial" panose="020B0604020202020204" pitchFamily="34" charset="0"/>
              <a:buChar char="•"/>
            </a:pPr>
            <a:r>
              <a:rPr lang="en-US" dirty="0"/>
              <a:t>Converts raw podcast audio into a standard format</a:t>
            </a:r>
          </a:p>
          <a:p>
            <a:pPr marL="285750" indent="-285750">
              <a:buFont typeface="Arial" panose="020B0604020202020204" pitchFamily="34" charset="0"/>
              <a:buChar char="•"/>
            </a:pPr>
            <a:r>
              <a:rPr lang="en-US" dirty="0"/>
              <a:t>Removes background noise and silent segments</a:t>
            </a:r>
          </a:p>
          <a:p>
            <a:pPr marL="285750" indent="-285750">
              <a:buFont typeface="Arial" panose="020B0604020202020204" pitchFamily="34" charset="0"/>
              <a:buChar char="•"/>
            </a:pPr>
            <a:r>
              <a:rPr lang="en-US" dirty="0"/>
              <a:t>Ensures consistent audio quality</a:t>
            </a:r>
          </a:p>
          <a:p>
            <a:endParaRPr lang="en-US" sz="1800" b="1" dirty="0"/>
          </a:p>
          <a:p>
            <a:r>
              <a:rPr lang="en-US" sz="2000" b="1" dirty="0"/>
              <a:t>2. Speech-to-Text Transcription:</a:t>
            </a:r>
            <a:endParaRPr lang="en-US" sz="2000" dirty="0"/>
          </a:p>
          <a:p>
            <a:pPr marL="285750" indent="-285750">
              <a:buFont typeface="Arial" panose="020B0604020202020204" pitchFamily="34" charset="0"/>
              <a:buChar char="•"/>
            </a:pPr>
            <a:r>
              <a:rPr lang="en-US" dirty="0"/>
              <a:t>Converts podcast audio into text</a:t>
            </a:r>
          </a:p>
          <a:p>
            <a:pPr marL="285750" indent="-285750">
              <a:buFont typeface="Arial" panose="020B0604020202020204" pitchFamily="34" charset="0"/>
              <a:buChar char="•"/>
            </a:pPr>
            <a:r>
              <a:rPr lang="en-US" dirty="0"/>
              <a:t>Generates transcripts</a:t>
            </a:r>
          </a:p>
          <a:p>
            <a:endParaRPr lang="en-US" dirty="0"/>
          </a:p>
          <a:p>
            <a:r>
              <a:rPr lang="en-US" sz="2000" b="1" dirty="0"/>
              <a:t>3. Topic Segmentation:</a:t>
            </a:r>
            <a:endParaRPr lang="en-US" sz="2000" dirty="0"/>
          </a:p>
          <a:p>
            <a:pPr marL="285750" indent="-285750">
              <a:buFont typeface="Arial" panose="020B0604020202020204" pitchFamily="34" charset="0"/>
              <a:buChar char="•"/>
            </a:pPr>
            <a:r>
              <a:rPr lang="en-US" dirty="0"/>
              <a:t>Divides long transcripts into meaningful segments</a:t>
            </a:r>
          </a:p>
          <a:p>
            <a:pPr marL="285750" indent="-285750">
              <a:buFont typeface="Arial" panose="020B0604020202020204" pitchFamily="34" charset="0"/>
              <a:buChar char="•"/>
            </a:pPr>
            <a:r>
              <a:rPr lang="en-US" dirty="0"/>
              <a:t>Transcript is split into contiguous </a:t>
            </a:r>
            <a:r>
              <a:rPr lang="en-US" dirty="0" err="1"/>
              <a:t>blocksEach</a:t>
            </a:r>
            <a:r>
              <a:rPr lang="en-US" dirty="0"/>
              <a:t> segment covers a continuous time range. </a:t>
            </a:r>
          </a:p>
          <a:p>
            <a:pPr marL="285750" indent="-285750">
              <a:buFont typeface="Arial" panose="020B0604020202020204" pitchFamily="34" charset="0"/>
              <a:buChar char="•"/>
            </a:pPr>
            <a:r>
              <a:rPr lang="en-US" dirty="0"/>
              <a:t>No overlap between segments</a:t>
            </a:r>
          </a:p>
        </p:txBody>
      </p:sp>
      <p:sp>
        <p:nvSpPr>
          <p:cNvPr id="2" name="Slide Number Placeholder 1">
            <a:extLst>
              <a:ext uri="{FF2B5EF4-FFF2-40B4-BE49-F238E27FC236}">
                <a16:creationId xmlns:a16="http://schemas.microsoft.com/office/drawing/2014/main" id="{A9725153-09F1-D016-CCB2-B2C898DE1471}"/>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Tree>
    <p:extLst>
      <p:ext uri="{BB962C8B-B14F-4D97-AF65-F5344CB8AC3E}">
        <p14:creationId xmlns:p14="http://schemas.microsoft.com/office/powerpoint/2010/main" val="40197297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EF3ED-297E-E962-43DF-A1BD9355A333}"/>
            </a:ext>
          </a:extLst>
        </p:cNvPr>
        <p:cNvGrpSpPr/>
        <p:nvPr/>
      </p:nvGrpSpPr>
      <p:grpSpPr>
        <a:xfrm>
          <a:off x="0" y="0"/>
          <a:ext cx="0" cy="0"/>
          <a:chOff x="0" y="0"/>
          <a:chExt cx="0" cy="0"/>
        </a:xfrm>
      </p:grpSpPr>
      <p:sp>
        <p:nvSpPr>
          <p:cNvPr id="19" name="Text Placeholder 18">
            <a:extLst>
              <a:ext uri="{FF2B5EF4-FFF2-40B4-BE49-F238E27FC236}">
                <a16:creationId xmlns:a16="http://schemas.microsoft.com/office/drawing/2014/main" id="{7B5AF807-8349-D779-61B9-20A189CD2DB9}"/>
              </a:ext>
            </a:extLst>
          </p:cNvPr>
          <p:cNvSpPr>
            <a:spLocks noGrp="1"/>
          </p:cNvSpPr>
          <p:nvPr>
            <p:ph type="body" sz="quarter" idx="18"/>
          </p:nvPr>
        </p:nvSpPr>
        <p:spPr>
          <a:xfrm>
            <a:off x="513183" y="1039275"/>
            <a:ext cx="9638524" cy="4540432"/>
          </a:xfrm>
        </p:spPr>
        <p:txBody>
          <a:bodyPr/>
          <a:lstStyle/>
          <a:p>
            <a:r>
              <a:rPr lang="en-US" sz="2000" b="1" dirty="0"/>
              <a:t>4. Keyword Extraction</a:t>
            </a:r>
          </a:p>
          <a:p>
            <a:pPr marL="285750" indent="-285750">
              <a:buFont typeface="Arial" panose="020B0604020202020204" pitchFamily="34" charset="0"/>
              <a:buChar char="•"/>
            </a:pPr>
            <a:r>
              <a:rPr lang="en-US" dirty="0"/>
              <a:t>Keyword segmentation identifies the core themes of each transcript segment by extracting frequently occurring, meaningful words after removing common stop-words and duplicates.</a:t>
            </a:r>
          </a:p>
          <a:p>
            <a:pPr marL="285750" indent="-285750">
              <a:buFont typeface="Arial" panose="020B0604020202020204" pitchFamily="34" charset="0"/>
              <a:buChar char="•"/>
            </a:pPr>
            <a:r>
              <a:rPr lang="en-US" dirty="0"/>
              <a:t>It helps in summarizing topic content without generating full textual summaries, allowing users to quickly understand what each segment discusses. </a:t>
            </a:r>
          </a:p>
          <a:p>
            <a:pPr marL="285750" indent="-285750">
              <a:buFont typeface="Arial" panose="020B0604020202020204" pitchFamily="34" charset="0"/>
              <a:buChar char="•"/>
            </a:pPr>
            <a:r>
              <a:rPr lang="en-US" dirty="0"/>
              <a:t>Keyword segmentation enables efficient navigation and search,, user can locate relevant segments based on the keywords rather than reading entire script.</a:t>
            </a:r>
          </a:p>
          <a:p>
            <a:endParaRPr lang="en-US" dirty="0"/>
          </a:p>
          <a:p>
            <a:r>
              <a:rPr lang="en-US" sz="2000" b="1" dirty="0"/>
              <a:t>5. Sentiment &amp; Quality Analysis</a:t>
            </a:r>
          </a:p>
          <a:p>
            <a:pPr marL="285750" indent="-285750">
              <a:buFont typeface="Arial" panose="020B0604020202020204" pitchFamily="34" charset="0"/>
              <a:buChar char="•"/>
            </a:pPr>
            <a:r>
              <a:rPr lang="en-US" dirty="0"/>
              <a:t>Sentiment analysis evaluates the emotional tone of each transcript segment using polarity scores to classify them as positive, neutral, or negative.</a:t>
            </a:r>
          </a:p>
          <a:p>
            <a:pPr marL="285750" indent="-285750">
              <a:buFont typeface="Arial" panose="020B0604020202020204" pitchFamily="34" charset="0"/>
              <a:buChar char="•"/>
            </a:pPr>
            <a:r>
              <a:rPr lang="en-US" dirty="0"/>
              <a:t>It provides a quick qualitative insight into how topics are discussed without requiring complex emotion models.</a:t>
            </a:r>
          </a:p>
          <a:p>
            <a:pPr marL="285750" indent="-285750">
              <a:buFont typeface="Arial" panose="020B0604020202020204" pitchFamily="34" charset="0"/>
              <a:buChar char="•"/>
            </a:pPr>
            <a:r>
              <a:rPr lang="en-US" dirty="0"/>
              <a:t>Visual sentiment indicators help users identify emotionally significant segments at a glance.</a:t>
            </a:r>
          </a:p>
          <a:p>
            <a:endParaRPr lang="en-US" sz="2000" b="1" dirty="0"/>
          </a:p>
          <a:p>
            <a:r>
              <a:rPr lang="en-US" sz="2000" b="1" dirty="0"/>
              <a:t>6. Frontend Visualization</a:t>
            </a:r>
          </a:p>
          <a:p>
            <a:pPr marL="285750" indent="-285750">
              <a:buFont typeface="Arial" panose="020B0604020202020204" pitchFamily="34" charset="0"/>
              <a:buChar char="•"/>
            </a:pPr>
            <a:r>
              <a:rPr lang="en-US" dirty="0"/>
              <a:t>The </a:t>
            </a:r>
            <a:r>
              <a:rPr lang="en-US" dirty="0" err="1"/>
              <a:t>Streamlit</a:t>
            </a:r>
            <a:r>
              <a:rPr lang="en-US" dirty="0"/>
              <a:t>-based interface allows users to upload audio files and trigger processing steps interactively.</a:t>
            </a:r>
          </a:p>
          <a:p>
            <a:pPr marL="285750" indent="-285750">
              <a:buFont typeface="Arial" panose="020B0604020202020204" pitchFamily="34" charset="0"/>
              <a:buChar char="•"/>
            </a:pPr>
            <a:r>
              <a:rPr lang="en-US" dirty="0"/>
              <a:t>Expandable segment views, keyword search, and visual indicators make it easy to explore long transcripts efficiently.</a:t>
            </a:r>
          </a:p>
          <a:p>
            <a:pPr marL="285750" indent="-285750">
              <a:buFont typeface="Arial" panose="020B0604020202020204" pitchFamily="34" charset="0"/>
              <a:buChar char="•"/>
            </a:pPr>
            <a:r>
              <a:rPr lang="en-US" dirty="0"/>
              <a:t>Integrated charts and visual components improve content readability and user engagement without overwhelming the user.</a:t>
            </a:r>
          </a:p>
        </p:txBody>
      </p:sp>
      <p:sp>
        <p:nvSpPr>
          <p:cNvPr id="2" name="Slide Number Placeholder 1">
            <a:extLst>
              <a:ext uri="{FF2B5EF4-FFF2-40B4-BE49-F238E27FC236}">
                <a16:creationId xmlns:a16="http://schemas.microsoft.com/office/drawing/2014/main" id="{B00EE858-AE65-D923-7924-F8C1D1A1E09C}"/>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Tree>
    <p:extLst>
      <p:ext uri="{BB962C8B-B14F-4D97-AF65-F5344CB8AC3E}">
        <p14:creationId xmlns:p14="http://schemas.microsoft.com/office/powerpoint/2010/main" val="21122602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a:xfrm>
            <a:off x="1380932" y="363894"/>
            <a:ext cx="8378888" cy="840230"/>
          </a:xfrm>
        </p:spPr>
        <p:txBody>
          <a:bodyPr/>
          <a:lstStyle/>
          <a:p>
            <a:r>
              <a:rPr lang="en-IN" sz="5400" dirty="0">
                <a:solidFill>
                  <a:schemeClr val="accent2"/>
                </a:solidFill>
              </a:rPr>
              <a:t>User Interface</a:t>
            </a:r>
            <a:endParaRPr lang="en-US" sz="5400" dirty="0"/>
          </a:p>
        </p:txBody>
      </p:sp>
      <p:graphicFrame>
        <p:nvGraphicFramePr>
          <p:cNvPr id="7" name="Chart 6" title="Gross Revenue Placeholder Chart">
            <a:extLst>
              <a:ext uri="{FF2B5EF4-FFF2-40B4-BE49-F238E27FC236}">
                <a16:creationId xmlns:a16="http://schemas.microsoft.com/office/drawing/2014/main" id="{19AEAA04-4840-FB41-B910-5F3570D85F0A}"/>
              </a:ext>
            </a:extLst>
          </p:cNvPr>
          <p:cNvGraphicFramePr/>
          <p:nvPr>
            <p:extLst>
              <p:ext uri="{D42A27DB-BD31-4B8C-83A1-F6EECF244321}">
                <p14:modId xmlns:p14="http://schemas.microsoft.com/office/powerpoint/2010/main" val="1583228208"/>
              </p:ext>
            </p:extLst>
          </p:nvPr>
        </p:nvGraphicFramePr>
        <p:xfrm>
          <a:off x="11887201" y="6553200"/>
          <a:ext cx="213360" cy="254000"/>
        </p:xfrm>
        <a:graphic>
          <a:graphicData uri="http://schemas.openxmlformats.org/drawingml/2006/chart">
            <c:chart xmlns:c="http://schemas.openxmlformats.org/drawingml/2006/chart" xmlns:r="http://schemas.openxmlformats.org/officeDocument/2006/relationships" r:id="rId2"/>
          </a:graphicData>
        </a:graphic>
      </p:graphicFrame>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10</a:t>
            </a:fld>
            <a:endParaRPr lang="en-US" dirty="0"/>
          </a:p>
        </p:txBody>
      </p:sp>
      <p:pic>
        <p:nvPicPr>
          <p:cNvPr id="4" name="Picture 3">
            <a:extLst>
              <a:ext uri="{FF2B5EF4-FFF2-40B4-BE49-F238E27FC236}">
                <a16:creationId xmlns:a16="http://schemas.microsoft.com/office/drawing/2014/main" id="{65EDC51C-D0EB-A40E-1B30-D85AEB176BEA}"/>
              </a:ext>
            </a:extLst>
          </p:cNvPr>
          <p:cNvPicPr>
            <a:picLocks noChangeAspect="1"/>
          </p:cNvPicPr>
          <p:nvPr/>
        </p:nvPicPr>
        <p:blipFill>
          <a:blip r:embed="rId3"/>
          <a:srcRect b="6890"/>
          <a:stretch>
            <a:fillRect/>
          </a:stretch>
        </p:blipFill>
        <p:spPr>
          <a:xfrm>
            <a:off x="552881" y="1689161"/>
            <a:ext cx="10008545" cy="4933823"/>
          </a:xfrm>
          <a:prstGeom prst="rect">
            <a:avLst/>
          </a:prstGeom>
        </p:spPr>
      </p:pic>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A5A00-BC40-6F99-AF48-AF3F3EE76B0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E7A5B8A-3719-89B2-215F-47ACD63FE003}"/>
              </a:ext>
            </a:extLst>
          </p:cNvPr>
          <p:cNvSpPr>
            <a:spLocks noGrp="1"/>
          </p:cNvSpPr>
          <p:nvPr>
            <p:ph type="title"/>
          </p:nvPr>
        </p:nvSpPr>
        <p:spPr>
          <a:xfrm>
            <a:off x="74648" y="466530"/>
            <a:ext cx="8378888" cy="840230"/>
          </a:xfrm>
        </p:spPr>
        <p:txBody>
          <a:bodyPr/>
          <a:lstStyle/>
          <a:p>
            <a:r>
              <a:rPr lang="en-IN" sz="5400" dirty="0">
                <a:solidFill>
                  <a:schemeClr val="accent2"/>
                </a:solidFill>
              </a:rPr>
              <a:t>Challenges &amp; Limitations</a:t>
            </a:r>
            <a:endParaRPr lang="en-US" sz="5400" dirty="0">
              <a:solidFill>
                <a:schemeClr val="accent2"/>
              </a:solidFill>
            </a:endParaRPr>
          </a:p>
        </p:txBody>
      </p:sp>
      <p:graphicFrame>
        <p:nvGraphicFramePr>
          <p:cNvPr id="7" name="Chart 6" title="Gross Revenue Placeholder Chart">
            <a:extLst>
              <a:ext uri="{FF2B5EF4-FFF2-40B4-BE49-F238E27FC236}">
                <a16:creationId xmlns:a16="http://schemas.microsoft.com/office/drawing/2014/main" id="{34FD26F4-B088-2A13-D057-427CE1BC68EB}"/>
              </a:ext>
            </a:extLst>
          </p:cNvPr>
          <p:cNvGraphicFramePr/>
          <p:nvPr/>
        </p:nvGraphicFramePr>
        <p:xfrm>
          <a:off x="11887201" y="6553200"/>
          <a:ext cx="213360" cy="254000"/>
        </p:xfrm>
        <a:graphic>
          <a:graphicData uri="http://schemas.openxmlformats.org/drawingml/2006/chart">
            <c:chart xmlns:c="http://schemas.openxmlformats.org/drawingml/2006/chart" xmlns:r="http://schemas.openxmlformats.org/officeDocument/2006/relationships" r:id="rId2"/>
          </a:graphicData>
        </a:graphic>
      </p:graphicFrame>
      <p:sp>
        <p:nvSpPr>
          <p:cNvPr id="2" name="Slide Number Placeholder 1">
            <a:extLst>
              <a:ext uri="{FF2B5EF4-FFF2-40B4-BE49-F238E27FC236}">
                <a16:creationId xmlns:a16="http://schemas.microsoft.com/office/drawing/2014/main" id="{1A82851E-499D-FE7B-8D05-BEE40D2650D9}"/>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
        <p:nvSpPr>
          <p:cNvPr id="3" name="TextBox 2">
            <a:extLst>
              <a:ext uri="{FF2B5EF4-FFF2-40B4-BE49-F238E27FC236}">
                <a16:creationId xmlns:a16="http://schemas.microsoft.com/office/drawing/2014/main" id="{EFA40D8A-F5B6-41A1-C79A-D9FF734BE94A}"/>
              </a:ext>
            </a:extLst>
          </p:cNvPr>
          <p:cNvSpPr txBox="1"/>
          <p:nvPr/>
        </p:nvSpPr>
        <p:spPr>
          <a:xfrm>
            <a:off x="438539" y="1735494"/>
            <a:ext cx="10217021" cy="3970318"/>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Transcription accuracy depends heavily on audio quality; noisy or accented speech may reduce performance. </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Large Whisper models require significant memory, which can be challenging on low-resource systems. </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Topic segmentation is heuristic-based and may not always perfectly align with true conversational shifts. </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Keyword extraction and summarization rely on statistical methods and may miss deeper semantic meaning. </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The system is optimized for offline analysis of datasets like TED Talks, not large-scale real-time deployment.</a:t>
            </a:r>
            <a:endParaRPr lang="en-IN" dirty="0">
              <a:solidFill>
                <a:schemeClr val="bg1"/>
              </a:solidFill>
            </a:endParaRPr>
          </a:p>
        </p:txBody>
      </p:sp>
    </p:spTree>
    <p:extLst>
      <p:ext uri="{BB962C8B-B14F-4D97-AF65-F5344CB8AC3E}">
        <p14:creationId xmlns:p14="http://schemas.microsoft.com/office/powerpoint/2010/main" val="20867529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70EC4-F11A-E063-17F8-0081D7219F5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6D4E187-5956-5EC0-C484-A006D1E13D84}"/>
              </a:ext>
            </a:extLst>
          </p:cNvPr>
          <p:cNvSpPr>
            <a:spLocks noGrp="1"/>
          </p:cNvSpPr>
          <p:nvPr>
            <p:ph type="title"/>
          </p:nvPr>
        </p:nvSpPr>
        <p:spPr>
          <a:xfrm>
            <a:off x="877079" y="410547"/>
            <a:ext cx="8378888" cy="840230"/>
          </a:xfrm>
        </p:spPr>
        <p:txBody>
          <a:bodyPr/>
          <a:lstStyle/>
          <a:p>
            <a:r>
              <a:rPr lang="en-IN" sz="5400" dirty="0">
                <a:solidFill>
                  <a:schemeClr val="accent2"/>
                </a:solidFill>
              </a:rPr>
              <a:t>Future Scope</a:t>
            </a:r>
            <a:endParaRPr lang="en-US" sz="5400" dirty="0"/>
          </a:p>
        </p:txBody>
      </p:sp>
      <p:graphicFrame>
        <p:nvGraphicFramePr>
          <p:cNvPr id="7" name="Chart 6" title="Gross Revenue Placeholder Chart">
            <a:extLst>
              <a:ext uri="{FF2B5EF4-FFF2-40B4-BE49-F238E27FC236}">
                <a16:creationId xmlns:a16="http://schemas.microsoft.com/office/drawing/2014/main" id="{2E5CB497-CC30-6378-0D80-E059A48D95CA}"/>
              </a:ext>
            </a:extLst>
          </p:cNvPr>
          <p:cNvGraphicFramePr/>
          <p:nvPr/>
        </p:nvGraphicFramePr>
        <p:xfrm>
          <a:off x="11887201" y="6553200"/>
          <a:ext cx="213360" cy="254000"/>
        </p:xfrm>
        <a:graphic>
          <a:graphicData uri="http://schemas.openxmlformats.org/drawingml/2006/chart">
            <c:chart xmlns:c="http://schemas.openxmlformats.org/drawingml/2006/chart" xmlns:r="http://schemas.openxmlformats.org/officeDocument/2006/relationships" r:id="rId2"/>
          </a:graphicData>
        </a:graphic>
      </p:graphicFrame>
      <p:sp>
        <p:nvSpPr>
          <p:cNvPr id="2" name="Slide Number Placeholder 1">
            <a:extLst>
              <a:ext uri="{FF2B5EF4-FFF2-40B4-BE49-F238E27FC236}">
                <a16:creationId xmlns:a16="http://schemas.microsoft.com/office/drawing/2014/main" id="{C6A3A92A-C18C-0388-43F1-2CAF7B58C4AF}"/>
              </a:ext>
            </a:extLst>
          </p:cNvPr>
          <p:cNvSpPr>
            <a:spLocks noGrp="1"/>
          </p:cNvSpPr>
          <p:nvPr>
            <p:ph type="sldNum" sz="quarter" idx="12"/>
          </p:nvPr>
        </p:nvSpPr>
        <p:spPr/>
        <p:txBody>
          <a:bodyPr/>
          <a:lstStyle/>
          <a:p>
            <a:fld id="{C263D6C4-4840-40CC-AC84-17E24B3B7BDE}" type="slidenum">
              <a:rPr lang="en-US" smtClean="0"/>
              <a:pPr/>
              <a:t>12</a:t>
            </a:fld>
            <a:endParaRPr lang="en-US" dirty="0"/>
          </a:p>
        </p:txBody>
      </p:sp>
      <p:sp>
        <p:nvSpPr>
          <p:cNvPr id="3" name="TextBox 2">
            <a:extLst>
              <a:ext uri="{FF2B5EF4-FFF2-40B4-BE49-F238E27FC236}">
                <a16:creationId xmlns:a16="http://schemas.microsoft.com/office/drawing/2014/main" id="{0B9C090B-E926-8970-B065-113C11CE7DEE}"/>
              </a:ext>
            </a:extLst>
          </p:cNvPr>
          <p:cNvSpPr txBox="1"/>
          <p:nvPr/>
        </p:nvSpPr>
        <p:spPr>
          <a:xfrm>
            <a:off x="419878" y="1847462"/>
            <a:ext cx="10459616" cy="3416320"/>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Use faster transcription frameworks or GPU acceleration to reduce processing time for long audio files. </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Add automatic summarization using large language models to generate concise episode or segment summaries. </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Extend the system to support real-time or live audio transcription. </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Improve topic segmentation using semantic similarity or transformer-based topic modeling techniques. </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Deploy the application on cloud platforms to enable public and scalable access. </a:t>
            </a:r>
            <a:endParaRPr lang="en-IN" dirty="0">
              <a:solidFill>
                <a:schemeClr val="bg1"/>
              </a:solidFill>
            </a:endParaRPr>
          </a:p>
        </p:txBody>
      </p:sp>
    </p:spTree>
    <p:extLst>
      <p:ext uri="{BB962C8B-B14F-4D97-AF65-F5344CB8AC3E}">
        <p14:creationId xmlns:p14="http://schemas.microsoft.com/office/powerpoint/2010/main" val="24374724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CD37D6-FE32-48E3-A3AD-F07BE6A19FA1}"/>
              </a:ext>
            </a:extLst>
          </p:cNvPr>
          <p:cNvSpPr>
            <a:spLocks noGrp="1"/>
          </p:cNvSpPr>
          <p:nvPr>
            <p:ph type="title"/>
          </p:nvPr>
        </p:nvSpPr>
        <p:spPr>
          <a:xfrm>
            <a:off x="990599" y="3455762"/>
            <a:ext cx="7551057" cy="2859313"/>
          </a:xfrm>
        </p:spPr>
        <p:txBody>
          <a:bodyPr>
            <a:noAutofit/>
          </a:bodyPr>
          <a:lstStyle/>
          <a:p>
            <a:br>
              <a:rPr lang="en-US" sz="1600" dirty="0"/>
            </a:br>
            <a:r>
              <a:rPr lang="en-US" sz="1600" dirty="0"/>
              <a:t>Automated audio podcast transcription and segmentation system provides a powerful solution for navigating and understanding lengthy audio content with unprecedented ease. By transforming spoken words into structured, analyzable data, users can quickly access specific information, grasp key topics, and derive valuable insights without the need for extensive listening.</a:t>
            </a:r>
            <a:br>
              <a:rPr lang="en-US" sz="1600" dirty="0"/>
            </a:br>
            <a:br>
              <a:rPr lang="en-US" sz="1600" dirty="0"/>
            </a:br>
            <a:r>
              <a:rPr lang="en-US" sz="1600" dirty="0"/>
              <a:t>From its modular pipeline to its intuitive visualization, this project demonstrates a significant step forward in making rich audio content more accessible and manageable.</a:t>
            </a:r>
            <a:br>
              <a:rPr lang="en-US" sz="1600" dirty="0"/>
            </a:br>
            <a:endParaRPr lang="en-US" sz="1600" dirty="0"/>
          </a:p>
        </p:txBody>
      </p:sp>
      <p:sp>
        <p:nvSpPr>
          <p:cNvPr id="2" name="Slide Number Placeholder 1">
            <a:extLst>
              <a:ext uri="{FF2B5EF4-FFF2-40B4-BE49-F238E27FC236}">
                <a16:creationId xmlns:a16="http://schemas.microsoft.com/office/drawing/2014/main" id="{8EDC7217-2779-44E0-9E6D-3B3879516A1D}"/>
              </a:ext>
            </a:extLst>
          </p:cNvPr>
          <p:cNvSpPr>
            <a:spLocks noGrp="1"/>
          </p:cNvSpPr>
          <p:nvPr>
            <p:ph type="sldNum" sz="quarter" idx="12"/>
          </p:nvPr>
        </p:nvSpPr>
        <p:spPr/>
        <p:txBody>
          <a:bodyPr/>
          <a:lstStyle/>
          <a:p>
            <a:fld id="{C263D6C4-4840-40CC-AC84-17E24B3B7BDE}" type="slidenum">
              <a:rPr lang="en-US" smtClean="0"/>
              <a:pPr/>
              <a:t>13</a:t>
            </a:fld>
            <a:endParaRPr lang="en-US" dirty="0"/>
          </a:p>
        </p:txBody>
      </p:sp>
      <p:sp>
        <p:nvSpPr>
          <p:cNvPr id="3" name="TextBox 2">
            <a:extLst>
              <a:ext uri="{FF2B5EF4-FFF2-40B4-BE49-F238E27FC236}">
                <a16:creationId xmlns:a16="http://schemas.microsoft.com/office/drawing/2014/main" id="{16BA7969-3CA7-D005-7B06-9BCD6D7E1DE6}"/>
              </a:ext>
            </a:extLst>
          </p:cNvPr>
          <p:cNvSpPr txBox="1"/>
          <p:nvPr/>
        </p:nvSpPr>
        <p:spPr>
          <a:xfrm>
            <a:off x="7598229" y="569686"/>
            <a:ext cx="3653971" cy="923330"/>
          </a:xfrm>
          <a:prstGeom prst="rect">
            <a:avLst/>
          </a:prstGeom>
          <a:noFill/>
        </p:spPr>
        <p:txBody>
          <a:bodyPr wrap="square" rtlCol="0">
            <a:spAutoFit/>
          </a:bodyPr>
          <a:lstStyle/>
          <a:p>
            <a:r>
              <a:rPr lang="en-IN" sz="5400" u="sng" dirty="0">
                <a:solidFill>
                  <a:schemeClr val="accent2"/>
                </a:solidFill>
              </a:rPr>
              <a:t>Conclusion</a:t>
            </a:r>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14</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a:xfrm>
            <a:off x="1191986" y="1273708"/>
            <a:ext cx="9372600" cy="3358860"/>
          </a:xfrm>
        </p:spPr>
        <p:txBody>
          <a:bodyPr/>
          <a:lstStyle/>
          <a:p>
            <a:r>
              <a:rPr lang="en-US" u="sng" dirty="0"/>
              <a:t>THANK YOU</a:t>
            </a:r>
          </a:p>
        </p:txBody>
      </p:sp>
      <p:sp>
        <p:nvSpPr>
          <p:cNvPr id="4" name="TextBox 3">
            <a:extLst>
              <a:ext uri="{FF2B5EF4-FFF2-40B4-BE49-F238E27FC236}">
                <a16:creationId xmlns:a16="http://schemas.microsoft.com/office/drawing/2014/main" id="{F01B1FBA-E956-9B73-800D-E2E827D80D64}"/>
              </a:ext>
            </a:extLst>
          </p:cNvPr>
          <p:cNvSpPr txBox="1"/>
          <p:nvPr/>
        </p:nvSpPr>
        <p:spPr>
          <a:xfrm>
            <a:off x="4870580" y="4711959"/>
            <a:ext cx="2015412" cy="1015663"/>
          </a:xfrm>
          <a:prstGeom prst="rect">
            <a:avLst/>
          </a:prstGeom>
          <a:noFill/>
        </p:spPr>
        <p:txBody>
          <a:bodyPr wrap="square" rtlCol="0">
            <a:spAutoFit/>
          </a:bodyPr>
          <a:lstStyle/>
          <a:p>
            <a:r>
              <a:rPr lang="en-IN" sz="6000" dirty="0">
                <a:solidFill>
                  <a:schemeClr val="accent2"/>
                </a:solidFill>
              </a:rPr>
              <a:t>Q&amp;A</a:t>
            </a:r>
          </a:p>
        </p:txBody>
      </p:sp>
    </p:spTree>
    <p:extLst>
      <p:ext uri="{BB962C8B-B14F-4D97-AF65-F5344CB8AC3E}">
        <p14:creationId xmlns:p14="http://schemas.microsoft.com/office/powerpoint/2010/main" val="59582380"/>
      </p:ext>
    </p:extLst>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310</TotalTime>
  <Words>1002</Words>
  <Application>Microsoft Office PowerPoint</Application>
  <PresentationFormat>Widescreen</PresentationFormat>
  <Paragraphs>113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Trade Gothic LT Pro</vt:lpstr>
      <vt:lpstr>Trebuchet MS</vt:lpstr>
      <vt:lpstr>Office Theme</vt:lpstr>
      <vt:lpstr>PODCAST INTELLIGENCE DASHBOARD</vt:lpstr>
      <vt:lpstr>Table of Contents</vt:lpstr>
      <vt:lpstr>Project Overview:</vt:lpstr>
      <vt:lpstr>Methodology</vt:lpstr>
      <vt:lpstr>Visualization</vt:lpstr>
      <vt:lpstr>Approach</vt:lpstr>
      <vt:lpstr>Model Architecture</vt:lpstr>
      <vt:lpstr>Results</vt:lpstr>
      <vt:lpstr>PowerPoint Presentation</vt:lpstr>
      <vt:lpstr>User Interface</vt:lpstr>
      <vt:lpstr>Challenges &amp; Limitations</vt:lpstr>
      <vt:lpstr>Future Scope</vt:lpstr>
      <vt:lpstr> Automated audio podcast transcription and segmentation system provides a powerful solution for navigating and understanding lengthy audio content with unprecedented ease. By transforming spoken words into structured, analyzable data, users can quickly access specific information, grasp key topics, and derive valuable insights without the need for extensive listening.  From its modular pipeline to its intuitive visualization, this project demonstrates a significant step forward in making rich audio content more accessible and manageable.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Bhaskar Sai Ram Chintakayala</dc:creator>
  <cp:lastModifiedBy>Bhaskar Sai Ram Chintakayala</cp:lastModifiedBy>
  <cp:revision>3</cp:revision>
  <dcterms:created xsi:type="dcterms:W3CDTF">2026-01-17T10:53:09Z</dcterms:created>
  <dcterms:modified xsi:type="dcterms:W3CDTF">2026-01-19T12:03:04Z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