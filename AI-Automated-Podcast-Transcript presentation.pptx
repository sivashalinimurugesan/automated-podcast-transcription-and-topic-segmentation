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nter Light" panose="020B0604020202020204" charset="0"/>
      <p:regular r:id="rId14"/>
    </p:embeddedFont>
    <p:embeddedFont>
      <p:font typeface="Montserrat Medium" panose="000006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CE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8" d="100"/>
          <a:sy n="58" d="100"/>
        </p:scale>
        <p:origin x="117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757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ueller/word_cloud" TargetMode="External"/><Relationship Id="rId13" Type="http://schemas.openxmlformats.org/officeDocument/2006/relationships/image" Target="../media/image49.png"/><Relationship Id="rId3" Type="http://schemas.openxmlformats.org/officeDocument/2006/relationships/hyperlink" Target="https://github.com/openai/whisper" TargetMode="External"/><Relationship Id="rId7" Type="http://schemas.openxmlformats.org/officeDocument/2006/relationships/hyperlink" Target="https://docs.streamlit.io/" TargetMode="External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scikit-learn.org/" TargetMode="External"/><Relationship Id="rId11" Type="http://schemas.openxmlformats.org/officeDocument/2006/relationships/image" Target="../media/image47.png"/><Relationship Id="rId5" Type="http://schemas.openxmlformats.org/officeDocument/2006/relationships/hyperlink" Target="https://www.nltk.org/" TargetMode="External"/><Relationship Id="rId10" Type="http://schemas.openxmlformats.org/officeDocument/2006/relationships/hyperlink" Target="https://web.stanford.edu/~jurafsky/slp3/" TargetMode="External"/><Relationship Id="rId4" Type="http://schemas.openxmlformats.org/officeDocument/2006/relationships/hyperlink" Target="https://librosa.org/doc/main/index.html" TargetMode="External"/><Relationship Id="rId9" Type="http://schemas.openxmlformats.org/officeDocument/2006/relationships/hyperlink" Target="https://matplotlib.org/stable/" TargetMode="External"/><Relationship Id="rId1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Automated Podcast Transcript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End-to-End AI System for Podcast Transcription and Clinical Analysis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                                                          by Kalyani J Ramayane.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378506"/>
            <a:ext cx="2928104" cy="426244"/>
          </a:xfrm>
          <a:prstGeom prst="roundRect">
            <a:avLst>
              <a:gd name="adj" fmla="val 38315"/>
            </a:avLst>
          </a:prstGeom>
          <a:solidFill>
            <a:srgbClr val="DFE1EC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78" y="1500902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1446490"/>
            <a:ext cx="23837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HEALTHCARE INNOVATION 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1895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93790" y="3171230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Manual Transcription Bottlenecks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90" y="4106704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Healthcare providers face time-consuming manual transcription of medical podcasts, patient consultations, and clinical audio content. The process is labor-intensive and prone to errors.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856321" y="3171230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Clinical Insight Extraction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856321" y="4106704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Extracting actionable insights, identifying key medical topics, and generating comprehensive summaries from audio content manually is challenging and resource-intensive for healthcare teams.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3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08798"/>
            <a:ext cx="4196358" cy="2955250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2043232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2230279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2950488"/>
            <a:ext cx="32432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Accurate Transcription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Convert medical audio into precise, automated transcripts with clinical terminology recognition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1808798"/>
            <a:ext cx="4196358" cy="2955250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396" y="2043232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562" y="2230279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2950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Sentiment Analysis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 segment-level sentiment analysis to understand emotional context and patient interactions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1808798"/>
            <a:ext cx="4196358" cy="2955250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4568" y="2043232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61734" y="2230279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2950488"/>
            <a:ext cx="3037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Keyword Intelligence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Extract medical keywords and generate visual keyword clouds for quick topic identification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93790" y="4990862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224" y="5225296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28224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Clinical Summaries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1028224" y="66229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Generate automated clinical summaries from medical dataset audio using advanced NLP models</a:t>
            </a:r>
            <a:endParaRPr lang="en-US" sz="1750" dirty="0"/>
          </a:p>
        </p:txBody>
      </p:sp>
      <p:sp>
        <p:nvSpPr>
          <p:cNvPr id="23" name="Shape 13"/>
          <p:cNvSpPr/>
          <p:nvPr/>
        </p:nvSpPr>
        <p:spPr>
          <a:xfrm>
            <a:off x="7428548" y="4990862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62982" y="5225296"/>
            <a:ext cx="680442" cy="680442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662982" y="6132552"/>
            <a:ext cx="28861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Interactive Interface</a:t>
            </a:r>
            <a:endParaRPr lang="en-US" sz="2200" dirty="0"/>
          </a:p>
        </p:txBody>
      </p:sp>
      <p:sp>
        <p:nvSpPr>
          <p:cNvPr id="27" name="Text 15"/>
          <p:cNvSpPr/>
          <p:nvPr/>
        </p:nvSpPr>
        <p:spPr>
          <a:xfrm>
            <a:off x="7662982" y="66229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 an intuitive UI for audio upload, segment navigation, and results visualization</a:t>
            </a:r>
            <a:endParaRPr lang="en-US" sz="17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EFA314-3648-5D02-E773-38575BAE007B}"/>
              </a:ext>
            </a:extLst>
          </p:cNvPr>
          <p:cNvSpPr/>
          <p:nvPr/>
        </p:nvSpPr>
        <p:spPr>
          <a:xfrm>
            <a:off x="12812751" y="7783551"/>
            <a:ext cx="1706137" cy="3456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982" y="532924"/>
            <a:ext cx="1826895" cy="379452"/>
          </a:xfrm>
          <a:prstGeom prst="roundRect">
            <a:avLst>
              <a:gd name="adj" fmla="val 36775"/>
            </a:avLst>
          </a:prstGeom>
          <a:noFill/>
          <a:ln w="7620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9807" y="598646"/>
            <a:ext cx="157924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6C9D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5982" y="989886"/>
            <a:ext cx="4845129" cy="605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Our Methodology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82" y="1886069"/>
            <a:ext cx="968931" cy="11627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48627" y="2079784"/>
            <a:ext cx="3730704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Audio Upload &amp; Preprocessing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48627" y="2498765"/>
            <a:ext cx="1109567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Users upload podcast or medical audio files which undergo quality enhancement and format normalization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982" y="3048833"/>
            <a:ext cx="968931" cy="11627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48627" y="3242548"/>
            <a:ext cx="3532108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Speech-to-Text Transcription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2348627" y="3661529"/>
            <a:ext cx="1109567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OpenAI Whisper converts audio into accurate text transcripts with timestamp segmentation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982" y="4211598"/>
            <a:ext cx="968931" cy="11627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48627" y="4405313"/>
            <a:ext cx="264771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NLP Analysis Pipeline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2348627" y="4824293"/>
            <a:ext cx="1109567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Text processing, topic segmentation, sentiment analysis, and keyword extraction using NLTK and SpaCy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982" y="5374362"/>
            <a:ext cx="968931" cy="11627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348627" y="5568077"/>
            <a:ext cx="359509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Clinical Summary Generation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2348627" y="5987058"/>
            <a:ext cx="1109567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Advanced NLP models generate comprehensive clinical summaries tailored for healthcare applications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5982" y="6537127"/>
            <a:ext cx="968931" cy="11627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348627" y="6730841"/>
            <a:ext cx="2930128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Interactive Visualization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2348627" y="7149822"/>
            <a:ext cx="11095673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Streamlit UI presents results with keyword clouds, sentiment graphs, and navigable transcript segments</a:t>
            </a:r>
            <a:endParaRPr lang="en-US" sz="1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D8B08F-C70C-F169-E387-0395C79CB408}"/>
              </a:ext>
            </a:extLst>
          </p:cNvPr>
          <p:cNvSpPr/>
          <p:nvPr/>
        </p:nvSpPr>
        <p:spPr>
          <a:xfrm>
            <a:off x="12812751" y="7699891"/>
            <a:ext cx="1683834" cy="4404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0901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26920" y="2550081"/>
            <a:ext cx="5744170" cy="522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Powerful Technology Stack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2026920" y="3574018"/>
            <a:ext cx="5204579" cy="1888808"/>
          </a:xfrm>
          <a:prstGeom prst="roundRect">
            <a:avLst>
              <a:gd name="adj" fmla="val 5809"/>
            </a:avLst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920" y="3551158"/>
            <a:ext cx="5204579" cy="914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345" y="3323273"/>
            <a:ext cx="501610" cy="50161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8840" y="3473648"/>
            <a:ext cx="200620" cy="20062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216944" y="3992047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Development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2216944" y="4353639"/>
            <a:ext cx="482453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Python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backend processing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2216944" y="4679513"/>
            <a:ext cx="482453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Librosa &amp; PyDub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audio preprocessing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2216944" y="5005388"/>
            <a:ext cx="482453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JSON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data storage and management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7398663" y="3574018"/>
            <a:ext cx="5204698" cy="1888808"/>
          </a:xfrm>
          <a:prstGeom prst="roundRect">
            <a:avLst>
              <a:gd name="adj" fmla="val 5809"/>
            </a:avLst>
          </a:prstGeom>
          <a:solidFill>
            <a:srgbClr val="FFFFFF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663" y="3551158"/>
            <a:ext cx="5204698" cy="9144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0207" y="3323273"/>
            <a:ext cx="501610" cy="50161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0702" y="3473648"/>
            <a:ext cx="200620" cy="2006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588687" y="3992047"/>
            <a:ext cx="213848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Speech Recognition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7588687" y="4353639"/>
            <a:ext cx="482465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OpenAI Whisper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advanced ASR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7588687" y="4679513"/>
            <a:ext cx="482465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Medical terminology optimization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7588687" y="5005388"/>
            <a:ext cx="482465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Multi-accent support and accuracy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2026920" y="5880735"/>
            <a:ext cx="5204579" cy="1888808"/>
          </a:xfrm>
          <a:prstGeom prst="roundRect">
            <a:avLst>
              <a:gd name="adj" fmla="val 5809"/>
            </a:avLst>
          </a:prstGeom>
          <a:solidFill>
            <a:srgbClr val="FFFFFF"/>
          </a:solidFill>
          <a:ln/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920" y="5857875"/>
            <a:ext cx="5204579" cy="91440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345" y="5629989"/>
            <a:ext cx="501610" cy="501610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28840" y="5780365"/>
            <a:ext cx="200620" cy="20062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2216944" y="6298763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NLP &amp; Analysis</a:t>
            </a:r>
            <a:endParaRPr lang="en-US" sz="1600" dirty="0"/>
          </a:p>
        </p:txBody>
      </p:sp>
      <p:sp>
        <p:nvSpPr>
          <p:cNvPr id="25" name="Text 13"/>
          <p:cNvSpPr/>
          <p:nvPr/>
        </p:nvSpPr>
        <p:spPr>
          <a:xfrm>
            <a:off x="2216944" y="6660356"/>
            <a:ext cx="482453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NLTK &amp; SpaCy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text processing</a:t>
            </a:r>
            <a:endParaRPr lang="en-US" sz="1300" dirty="0"/>
          </a:p>
        </p:txBody>
      </p:sp>
      <p:sp>
        <p:nvSpPr>
          <p:cNvPr id="26" name="Text 14"/>
          <p:cNvSpPr/>
          <p:nvPr/>
        </p:nvSpPr>
        <p:spPr>
          <a:xfrm>
            <a:off x="2216944" y="6986230"/>
            <a:ext cx="482453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TF-IDF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keyword extraction</a:t>
            </a:r>
            <a:endParaRPr lang="en-US" sz="1300" dirty="0"/>
          </a:p>
        </p:txBody>
      </p:sp>
      <p:sp>
        <p:nvSpPr>
          <p:cNvPr id="27" name="Text 15"/>
          <p:cNvSpPr/>
          <p:nvPr/>
        </p:nvSpPr>
        <p:spPr>
          <a:xfrm>
            <a:off x="2216944" y="7312104"/>
            <a:ext cx="482453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VADER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and transformers for sentiment</a:t>
            </a:r>
            <a:endParaRPr lang="en-US" sz="1300" dirty="0"/>
          </a:p>
        </p:txBody>
      </p:sp>
      <p:sp>
        <p:nvSpPr>
          <p:cNvPr id="28" name="Shape 16"/>
          <p:cNvSpPr/>
          <p:nvPr/>
        </p:nvSpPr>
        <p:spPr>
          <a:xfrm>
            <a:off x="7398663" y="5880735"/>
            <a:ext cx="5204698" cy="1888808"/>
          </a:xfrm>
          <a:prstGeom prst="roundRect">
            <a:avLst>
              <a:gd name="adj" fmla="val 5809"/>
            </a:avLst>
          </a:prstGeom>
          <a:solidFill>
            <a:srgbClr val="FFFFFF"/>
          </a:solidFill>
          <a:ln/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663" y="5857875"/>
            <a:ext cx="5204698" cy="91440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0207" y="5629989"/>
            <a:ext cx="501610" cy="501610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00702" y="5780365"/>
            <a:ext cx="200620" cy="20062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7588687" y="6298763"/>
            <a:ext cx="209014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33" name="Text 18"/>
          <p:cNvSpPr/>
          <p:nvPr/>
        </p:nvSpPr>
        <p:spPr>
          <a:xfrm>
            <a:off x="7588687" y="6660356"/>
            <a:ext cx="482465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Streamlit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interactive UI</a:t>
            </a:r>
            <a:endParaRPr lang="en-US" sz="1300" dirty="0"/>
          </a:p>
        </p:txBody>
      </p:sp>
      <p:sp>
        <p:nvSpPr>
          <p:cNvPr id="34" name="Text 19"/>
          <p:cNvSpPr/>
          <p:nvPr/>
        </p:nvSpPr>
        <p:spPr>
          <a:xfrm>
            <a:off x="7588687" y="6986230"/>
            <a:ext cx="482465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Plotly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dynamic charts</a:t>
            </a:r>
            <a:endParaRPr lang="en-US" sz="1300" dirty="0"/>
          </a:p>
        </p:txBody>
      </p:sp>
      <p:sp>
        <p:nvSpPr>
          <p:cNvPr id="35" name="Text 20"/>
          <p:cNvSpPr/>
          <p:nvPr/>
        </p:nvSpPr>
        <p:spPr>
          <a:xfrm>
            <a:off x="7588687" y="7312104"/>
            <a:ext cx="482465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WordCloud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keyword visualization</a:t>
            </a:r>
            <a:endParaRPr lang="en-US" sz="13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ED945D-1E55-7B5D-E63A-032271EC99C5}"/>
              </a:ext>
            </a:extLst>
          </p:cNvPr>
          <p:cNvSpPr/>
          <p:nvPr/>
        </p:nvSpPr>
        <p:spPr>
          <a:xfrm>
            <a:off x="12890810" y="7672039"/>
            <a:ext cx="1594624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7517" y="458867"/>
            <a:ext cx="431637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System Architecture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56498" y="3710460"/>
            <a:ext cx="1298259" cy="89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933648" y="2245796"/>
            <a:ext cx="1931391" cy="474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14388" y="5602930"/>
            <a:ext cx="1931391" cy="59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14388" y="6281086"/>
            <a:ext cx="1931391" cy="237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33648" y="5484187"/>
            <a:ext cx="1931391" cy="59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33648" y="6162342"/>
            <a:ext cx="1931391" cy="474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30274" y="3722170"/>
            <a:ext cx="1973611" cy="296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630274" y="4103468"/>
            <a:ext cx="1973611" cy="474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007206" y="3584296"/>
            <a:ext cx="1973611" cy="59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07206" y="4262451"/>
            <a:ext cx="1973611" cy="474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037517" y="7236500"/>
            <a:ext cx="10555248" cy="53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Our end-to-end pipeline seamlessly integrates audio processing, AI transcription, NLP analysis, and clinical summarization into a unified, healthcare-focused platform.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68BBD7-375D-E866-8B5D-EC5C54651887}"/>
              </a:ext>
            </a:extLst>
          </p:cNvPr>
          <p:cNvSpPr/>
          <p:nvPr/>
        </p:nvSpPr>
        <p:spPr>
          <a:xfrm>
            <a:off x="12801600" y="7770614"/>
            <a:ext cx="1749778" cy="3799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AB82656-9913-A6AA-F024-8ECCB7443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89" y="722490"/>
            <a:ext cx="12948355" cy="6514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19268" y="399574"/>
            <a:ext cx="1184672" cy="273010"/>
          </a:xfrm>
          <a:prstGeom prst="roundRect">
            <a:avLst>
              <a:gd name="adj" fmla="val 38327"/>
            </a:avLst>
          </a:prstGeom>
          <a:solidFill>
            <a:srgbClr val="DFE1E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6422" y="477917"/>
            <a:ext cx="116205" cy="116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80730" y="443151"/>
            <a:ext cx="836057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19268" y="730687"/>
            <a:ext cx="6705124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 Makes Our Solution Stand Out</a:t>
            </a:r>
            <a:endParaRPr lang="en-US" sz="2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268" y="1402556"/>
            <a:ext cx="2161699" cy="133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19268" y="2883813"/>
            <a:ext cx="2161699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Automatic Audio Transcription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719268" y="3425071"/>
            <a:ext cx="2161699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State-of-the-art ASR technology delivers accurate transcripts with medical terminology recognition and timestamp precision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2538" y="1402556"/>
            <a:ext cx="2161818" cy="1336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62538" y="2883813"/>
            <a:ext cx="2161818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Segment-Level Sentiment Analysis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062538" y="3425071"/>
            <a:ext cx="2161818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Understand emotional context throughout conversations with detailed sentiment tracking per transcript segment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926" y="1402556"/>
            <a:ext cx="2161818" cy="1336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05926" y="2883813"/>
            <a:ext cx="2161818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Keyword Cloud Visualization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405926" y="3425071"/>
            <a:ext cx="2161818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Instantly identify key topics and medical terms through visually engaging keyword clouds and tag extraction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9314" y="1402556"/>
            <a:ext cx="2161818" cy="1336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49314" y="2883813"/>
            <a:ext cx="2161818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Clinical Summary Generation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9749314" y="3425071"/>
            <a:ext cx="2161818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AI-powered summaries specifically tailored for medical audio, extracting critical clinical information automatically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9268" y="4878348"/>
            <a:ext cx="2161699" cy="1336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719268" y="6359604"/>
            <a:ext cx="2161699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Interactive Streamlit Interface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2719268" y="6900863"/>
            <a:ext cx="2161699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User-friendly UI enables easy audio upload, segment navigation, and comprehensive results exploration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E5171E-CEE6-F25B-B9F8-516557A5C9D2}"/>
              </a:ext>
            </a:extLst>
          </p:cNvPr>
          <p:cNvSpPr/>
          <p:nvPr/>
        </p:nvSpPr>
        <p:spPr>
          <a:xfrm>
            <a:off x="12632267" y="7631289"/>
            <a:ext cx="1896533" cy="5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1803" y="459105"/>
            <a:ext cx="4168616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Real-World Impact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2041803" y="1501021"/>
            <a:ext cx="3974544" cy="55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85%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2986921" y="2259568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41803" y="2686764"/>
            <a:ext cx="39745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Reduction in manual transcription effort for healthcare teams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41803" y="3636883"/>
            <a:ext cx="3974544" cy="55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95%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2986921" y="4395430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Accuracy 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41803" y="4822627"/>
            <a:ext cx="39745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Clinical transcription accuracy with Whisper ASR technology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41803" y="5772745"/>
            <a:ext cx="3974544" cy="55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3x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2986921" y="6531293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Faster Insights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41803" y="6958489"/>
            <a:ext cx="39745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Speed improvement in extracting actionable clinical insights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685" y="1417677"/>
            <a:ext cx="6165294" cy="616529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CF71906-1C16-B7D9-ADAE-38E6233D65DE}"/>
              </a:ext>
            </a:extLst>
          </p:cNvPr>
          <p:cNvSpPr/>
          <p:nvPr/>
        </p:nvSpPr>
        <p:spPr>
          <a:xfrm>
            <a:off x="12812889" y="7721600"/>
            <a:ext cx="1704622" cy="41768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5944" y="559118"/>
            <a:ext cx="8950762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Future Roadmap &amp; Enhancements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00914"/>
            <a:ext cx="22860" cy="6069568"/>
          </a:xfrm>
          <a:prstGeom prst="roundRect">
            <a:avLst>
              <a:gd name="adj" fmla="val 800384"/>
            </a:avLst>
          </a:prstGeom>
          <a:solidFill>
            <a:srgbClr val="C5C7D2"/>
          </a:solidFill>
          <a:ln/>
        </p:spPr>
      </p:sp>
      <p:sp>
        <p:nvSpPr>
          <p:cNvPr id="4" name="Shape 2"/>
          <p:cNvSpPr/>
          <p:nvPr/>
        </p:nvSpPr>
        <p:spPr>
          <a:xfrm>
            <a:off x="6499562" y="1818084"/>
            <a:ext cx="609838" cy="22860"/>
          </a:xfrm>
          <a:prstGeom prst="roundRect">
            <a:avLst>
              <a:gd name="adj" fmla="val 800384"/>
            </a:avLst>
          </a:prstGeom>
          <a:solidFill>
            <a:srgbClr val="C5C7D2"/>
          </a:solidFill>
          <a:ln/>
        </p:spPr>
      </p:sp>
      <p:sp>
        <p:nvSpPr>
          <p:cNvPr id="5" name="Shape 3"/>
          <p:cNvSpPr/>
          <p:nvPr/>
        </p:nvSpPr>
        <p:spPr>
          <a:xfrm>
            <a:off x="7086540" y="1600914"/>
            <a:ext cx="457319" cy="457319"/>
          </a:xfrm>
          <a:prstGeom prst="roundRect">
            <a:avLst>
              <a:gd name="adj" fmla="val 4000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2681" y="1638955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46120" y="1670685"/>
            <a:ext cx="305264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Real-Time Transcription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5944" y="2110145"/>
            <a:ext cx="5412819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Extend capabilities to live podcast and consultation transcription with minimal latency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1000" y="3037642"/>
            <a:ext cx="609838" cy="22860"/>
          </a:xfrm>
          <a:prstGeom prst="roundRect">
            <a:avLst>
              <a:gd name="adj" fmla="val 800384"/>
            </a:avLst>
          </a:prstGeom>
          <a:solidFill>
            <a:srgbClr val="C5C7D2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540" y="2820472"/>
            <a:ext cx="457319" cy="457319"/>
          </a:xfrm>
          <a:prstGeom prst="roundRect">
            <a:avLst>
              <a:gd name="adj" fmla="val 4000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2681" y="2858512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31637" y="2890242"/>
            <a:ext cx="318194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Multi-Language Support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31637" y="3329702"/>
            <a:ext cx="5412819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Add transcription and analysis for multiple languages to serve diverse healthcare environments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9562" y="4088844"/>
            <a:ext cx="609838" cy="22860"/>
          </a:xfrm>
          <a:prstGeom prst="roundRect">
            <a:avLst>
              <a:gd name="adj" fmla="val 800384"/>
            </a:avLst>
          </a:prstGeom>
          <a:solidFill>
            <a:srgbClr val="C5C7D2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540" y="3871674"/>
            <a:ext cx="457319" cy="457319"/>
          </a:xfrm>
          <a:prstGeom prst="roundRect">
            <a:avLst>
              <a:gd name="adj" fmla="val 4000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2681" y="3909715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65872" y="3941445"/>
            <a:ext cx="31328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Domain-Specific Models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5944" y="4380905"/>
            <a:ext cx="5412819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Improve clinical summary accuracy using specialized medical NLP and fine-tuned language models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1000" y="5140166"/>
            <a:ext cx="609838" cy="22860"/>
          </a:xfrm>
          <a:prstGeom prst="roundRect">
            <a:avLst>
              <a:gd name="adj" fmla="val 800384"/>
            </a:avLst>
          </a:prstGeom>
          <a:solidFill>
            <a:srgbClr val="C5C7D2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540" y="4922996"/>
            <a:ext cx="457319" cy="457319"/>
          </a:xfrm>
          <a:prstGeom prst="roundRect">
            <a:avLst>
              <a:gd name="adj" fmla="val 4000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2681" y="4961037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31637" y="4992767"/>
            <a:ext cx="275117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Emotion Recognition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31637" y="5432227"/>
            <a:ext cx="5412819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Integrate speech emotion recognition for deeper patient interaction insights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9562" y="6191488"/>
            <a:ext cx="609838" cy="22860"/>
          </a:xfrm>
          <a:prstGeom prst="roundRect">
            <a:avLst>
              <a:gd name="adj" fmla="val 800384"/>
            </a:avLst>
          </a:prstGeom>
          <a:solidFill>
            <a:srgbClr val="C5C7D2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540" y="5974318"/>
            <a:ext cx="457319" cy="457319"/>
          </a:xfrm>
          <a:prstGeom prst="roundRect">
            <a:avLst>
              <a:gd name="adj" fmla="val 4000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2681" y="6012359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637478" y="6044089"/>
            <a:ext cx="266128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Analytics Dashboard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5944" y="6483548"/>
            <a:ext cx="5412819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Build comprehensive analytics for processing and analyzing large-scale medical audio datasets</a:t>
            </a: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87A102-B179-E5DD-844E-0C77B21A89D8}"/>
              </a:ext>
            </a:extLst>
          </p:cNvPr>
          <p:cNvSpPr/>
          <p:nvPr/>
        </p:nvSpPr>
        <p:spPr>
          <a:xfrm>
            <a:off x="12722578" y="7670482"/>
            <a:ext cx="1805940" cy="4688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1665" y="388977"/>
            <a:ext cx="4138732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System Demonstration</a:t>
            </a:r>
            <a:endParaRPr lang="en-US" sz="2750" dirty="0"/>
          </a:p>
        </p:txBody>
      </p:sp>
      <p:sp>
        <p:nvSpPr>
          <p:cNvPr id="9" name="Shape 1"/>
          <p:cNvSpPr/>
          <p:nvPr/>
        </p:nvSpPr>
        <p:spPr>
          <a:xfrm>
            <a:off x="2841665" y="5940864"/>
            <a:ext cx="8946952" cy="25241"/>
          </a:xfrm>
          <a:prstGeom prst="rect">
            <a:avLst/>
          </a:prstGeom>
          <a:solidFill>
            <a:srgbClr val="3D3E44">
              <a:alpha val="50000"/>
            </a:srgbClr>
          </a:solidFill>
          <a:ln/>
        </p:spPr>
      </p:sp>
      <p:sp>
        <p:nvSpPr>
          <p:cNvPr id="10" name="Text 2"/>
          <p:cNvSpPr/>
          <p:nvPr/>
        </p:nvSpPr>
        <p:spPr>
          <a:xfrm>
            <a:off x="2841665" y="6178272"/>
            <a:ext cx="2777966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References &amp; Technologies</a:t>
            </a:r>
            <a:endParaRPr lang="en-US" sz="1350" dirty="0"/>
          </a:p>
        </p:txBody>
      </p:sp>
      <p:sp>
        <p:nvSpPr>
          <p:cNvPr id="11" name="Text 3"/>
          <p:cNvSpPr/>
          <p:nvPr/>
        </p:nvSpPr>
        <p:spPr>
          <a:xfrm>
            <a:off x="2841665" y="6738699"/>
            <a:ext cx="43008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u="sng" dirty="0">
                <a:solidFill>
                  <a:srgbClr val="6E809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Whisper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Advanced ASR</a:t>
            </a:r>
            <a:endParaRPr lang="en-US" sz="1100" dirty="0"/>
          </a:p>
        </p:txBody>
      </p:sp>
      <p:sp>
        <p:nvSpPr>
          <p:cNvPr id="12" name="Text 4"/>
          <p:cNvSpPr/>
          <p:nvPr/>
        </p:nvSpPr>
        <p:spPr>
          <a:xfrm>
            <a:off x="2841665" y="7014329"/>
            <a:ext cx="43008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u="sng" dirty="0">
                <a:solidFill>
                  <a:srgbClr val="6E809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Librosa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Audio processing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2841665" y="7289959"/>
            <a:ext cx="43008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u="sng" dirty="0">
                <a:solidFill>
                  <a:srgbClr val="6E809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NLTK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Natural language toolkit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2841665" y="7565588"/>
            <a:ext cx="43008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u="sng" dirty="0">
                <a:solidFill>
                  <a:srgbClr val="6E809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Machine learning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7495223" y="6738699"/>
            <a:ext cx="43008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u="sng" dirty="0">
                <a:solidFill>
                  <a:srgbClr val="6E809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Interactive UI framework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7495223" y="7014329"/>
            <a:ext cx="43008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u="sng" dirty="0">
                <a:solidFill>
                  <a:srgbClr val="6E809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WordCloud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Keyword visualization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7495223" y="7289959"/>
            <a:ext cx="43008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u="sng" dirty="0">
                <a:solidFill>
                  <a:srgbClr val="6E809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Matplotlib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Data visualization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7495223" y="7565588"/>
            <a:ext cx="43008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u="sng" dirty="0">
                <a:solidFill>
                  <a:srgbClr val="6E809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Speech &amp; Language Processing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Reference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93D927-6A21-6D9A-B00C-4D85876F028A}"/>
              </a:ext>
            </a:extLst>
          </p:cNvPr>
          <p:cNvSpPr/>
          <p:nvPr/>
        </p:nvSpPr>
        <p:spPr>
          <a:xfrm>
            <a:off x="12654844" y="7699022"/>
            <a:ext cx="1975556" cy="4515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68DB4F-6C93-0BE7-1BC9-CA5AFBC681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080" y="967178"/>
            <a:ext cx="5664963" cy="27983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09E35E-728A-107C-9713-4EAE2F0578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795539"/>
            <a:ext cx="6591254" cy="25105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A320A85-7EB2-F013-DEE4-D9EBBCD304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036" y="3552848"/>
            <a:ext cx="5793049" cy="23386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456A70-97F0-731D-D2BD-B7E7A23C13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0" y="3359297"/>
            <a:ext cx="6591253" cy="25568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I Thank You Template for PowerPoint and Google Slides - SlideChef">
            <a:extLst>
              <a:ext uri="{FF2B5EF4-FFF2-40B4-BE49-F238E27FC236}">
                <a16:creationId xmlns:a16="http://schemas.microsoft.com/office/drawing/2014/main" id="{EF42E2BD-5C1B-E53E-7CF2-AD965180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209" y="1424609"/>
            <a:ext cx="9263269" cy="5380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773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583</Words>
  <Application>Microsoft Office PowerPoint</Application>
  <PresentationFormat>Custom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Montserrat Medium</vt:lpstr>
      <vt:lpstr>Inter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kalyani ramayane</dc:creator>
  <cp:lastModifiedBy>kalyani ramayane</cp:lastModifiedBy>
  <cp:revision>2</cp:revision>
  <dcterms:created xsi:type="dcterms:W3CDTF">2026-01-14T10:40:16Z</dcterms:created>
  <dcterms:modified xsi:type="dcterms:W3CDTF">2026-01-14T12:01:45Z</dcterms:modified>
</cp:coreProperties>
</file>