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9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68234" autoAdjust="0"/>
  </p:normalViewPr>
  <p:slideViewPr>
    <p:cSldViewPr snapToGrid="0">
      <p:cViewPr varScale="1">
        <p:scale>
          <a:sx n="43" d="100"/>
          <a:sy n="43" d="100"/>
        </p:scale>
        <p:origin x="15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6F2E0-F51F-49A1-A75E-91DC1C500106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650CF-081C-4909-A3EE-4415CB887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31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650CF-081C-4909-A3EE-4415CB8870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140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60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14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35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0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65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57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05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11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60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36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9057E-C051-4F65-BE10-56A43B6BBA5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59F2868-63FD-4441-81DC-B3889A8C0BC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5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D824E8-EB65-C50F-A29D-8FF982F0F2EB}"/>
              </a:ext>
            </a:extLst>
          </p:cNvPr>
          <p:cNvSpPr txBox="1"/>
          <p:nvPr/>
        </p:nvSpPr>
        <p:spPr>
          <a:xfrm>
            <a:off x="1493485" y="472832"/>
            <a:ext cx="110163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>
                <a:latin typeface="Berlin Sans FB Demi" panose="020E0802020502020306" pitchFamily="34" charset="0"/>
              </a:rPr>
              <a:t>Automated-Podcast-Transcription-and-Topic-Segmentation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9AB632-D426-F117-DACB-844B3A849581}"/>
              </a:ext>
            </a:extLst>
          </p:cNvPr>
          <p:cNvSpPr txBox="1"/>
          <p:nvPr/>
        </p:nvSpPr>
        <p:spPr>
          <a:xfrm>
            <a:off x="1262744" y="2296886"/>
            <a:ext cx="107224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Subtitle:-AI-Based Analysis of “The Adventures of Sherlock Holmes”</a:t>
            </a:r>
          </a:p>
          <a:p>
            <a:endParaRPr lang="en-US" sz="3200" dirty="0"/>
          </a:p>
          <a:p>
            <a:r>
              <a:rPr lang="en-US" sz="3200" dirty="0"/>
              <a:t>Presented by:-Sourajit Muduli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4511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12996C-6917-6378-2241-1C4E2322EE79}"/>
              </a:ext>
            </a:extLst>
          </p:cNvPr>
          <p:cNvSpPr txBox="1"/>
          <p:nvPr/>
        </p:nvSpPr>
        <p:spPr>
          <a:xfrm>
            <a:off x="424543" y="195943"/>
            <a:ext cx="67137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Introduction:-</a:t>
            </a:r>
          </a:p>
          <a:p>
            <a:endParaRPr lang="en-IN" sz="35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2F0F8A-9FA6-D5C0-5FD6-04F8F6C15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12" y="1393169"/>
            <a:ext cx="12043317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The Context: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Audiobooks are a rapidly growing medium for storytelling and education.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The Problem: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Unlike text, audiobooks are "unsearchable." Listeners cannot easily find specific scenes, quotes, or character interactions without scrubbing through hours of audio.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The Solution: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An automated system that "listens" to the story, transcribes it, and segments it by narrative context.</a:t>
            </a:r>
          </a:p>
        </p:txBody>
      </p:sp>
    </p:spTree>
    <p:extLst>
      <p:ext uri="{BB962C8B-B14F-4D97-AF65-F5344CB8AC3E}">
        <p14:creationId xmlns:p14="http://schemas.microsoft.com/office/powerpoint/2010/main" val="100030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1B7EF-22DF-473A-8162-499B2AC2B354}"/>
              </a:ext>
            </a:extLst>
          </p:cNvPr>
          <p:cNvSpPr txBox="1"/>
          <p:nvPr/>
        </p:nvSpPr>
        <p:spPr>
          <a:xfrm>
            <a:off x="209552" y="0"/>
            <a:ext cx="610144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Project Objectives:-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BB81B9-757A-6192-AFFD-7E2116DF8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43" y="630942"/>
            <a:ext cx="11107711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Primary Goal: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To create a searchable, structured index for long-form narrative audio.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Key Objectives: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Automated Transcription: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Convert classic literature audio to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Narrative Segmentation: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Detect scene shifts (e.g., moving from "221B Baker Street" to a crime scene).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Sentiment Tracking: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Visualize the "Narrative Arc" (Tension/Mystery vs. Calm).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Keyword Extraction: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Identify key characters (Holmes, Watson) and clues.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891472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CA314-6814-AC3B-0DE1-50E6E8F156DF}"/>
              </a:ext>
            </a:extLst>
          </p:cNvPr>
          <p:cNvSpPr txBox="1"/>
          <p:nvPr/>
        </p:nvSpPr>
        <p:spPr>
          <a:xfrm>
            <a:off x="484324" y="370595"/>
            <a:ext cx="610144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The Dataset-: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CBA24-A449-6A00-13C2-588148564AF3}"/>
              </a:ext>
            </a:extLst>
          </p:cNvPr>
          <p:cNvSpPr txBox="1"/>
          <p:nvPr/>
        </p:nvSpPr>
        <p:spPr>
          <a:xfrm>
            <a:off x="484324" y="1001537"/>
            <a:ext cx="108482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700" b="1" dirty="0">
                <a:latin typeface="Gill Sans MT(body)"/>
              </a:rPr>
              <a:t>Name:</a:t>
            </a:r>
            <a:r>
              <a:rPr lang="en-IN" sz="2700" dirty="0">
                <a:latin typeface="Gill Sans MT(body)"/>
              </a:rPr>
              <a:t> </a:t>
            </a:r>
            <a:r>
              <a:rPr lang="en-IN" sz="2700" dirty="0" err="1">
                <a:latin typeface="Gill Sans MT(body)"/>
              </a:rPr>
              <a:t>adventures_sherlock_holmes_rg_librivox</a:t>
            </a:r>
            <a:endParaRPr lang="en-IN" sz="2700" dirty="0">
              <a:latin typeface="Gill Sans MT(body)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700" dirty="0">
              <a:latin typeface="Gill Sans MT(body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>
                <a:latin typeface="Gill Sans MT(body)"/>
              </a:rPr>
              <a:t>Source:</a:t>
            </a:r>
            <a:r>
              <a:rPr lang="en-IN" sz="2700" dirty="0">
                <a:latin typeface="Gill Sans MT(body)"/>
              </a:rPr>
              <a:t> </a:t>
            </a:r>
            <a:r>
              <a:rPr lang="en-IN" sz="2700" dirty="0" err="1">
                <a:latin typeface="Gill Sans MT(body)"/>
              </a:rPr>
              <a:t>LibriSpeech</a:t>
            </a:r>
            <a:r>
              <a:rPr lang="en-IN" sz="2700" dirty="0">
                <a:latin typeface="Gill Sans MT(body)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700" dirty="0">
              <a:latin typeface="Gill Sans MT(body)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>
                <a:latin typeface="Gill Sans MT(body)"/>
              </a:rPr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700" dirty="0">
              <a:latin typeface="Gill Sans MT(body)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700" dirty="0">
                <a:latin typeface="Gill Sans MT(body)"/>
              </a:rPr>
              <a:t>High-quality, read speech from Arthur Conan Doyle’s </a:t>
            </a:r>
            <a:r>
              <a:rPr lang="en-IN" sz="2700" i="1" dirty="0">
                <a:latin typeface="Gill Sans MT(body)"/>
              </a:rPr>
              <a:t>The Adventures of Sherlock Holmes</a:t>
            </a:r>
            <a:r>
              <a:rPr lang="en-IN" sz="2700" dirty="0">
                <a:latin typeface="Gill Sans MT(body)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700" dirty="0">
              <a:latin typeface="Gill Sans MT(body)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700" b="1" dirty="0">
                <a:latin typeface="Gill Sans MT(body)"/>
              </a:rPr>
              <a:t>Why this dataset?</a:t>
            </a:r>
            <a:r>
              <a:rPr lang="en-IN" sz="2700" dirty="0">
                <a:latin typeface="Gill Sans MT(body)"/>
              </a:rPr>
              <a:t> It provides a challenging, lengthy narrative structure perfect for testing segmentation algorithms (unlike short voice commands).</a:t>
            </a:r>
            <a:r>
              <a:rPr lang="en-IN" sz="2700" b="1" dirty="0">
                <a:latin typeface="Gill Sans MT(body)"/>
              </a:rPr>
              <a:t> </a:t>
            </a:r>
            <a:endParaRPr lang="en-IN" sz="2700" dirty="0">
              <a:latin typeface="Gill Sans MT(body)"/>
            </a:endParaRPr>
          </a:p>
        </p:txBody>
      </p:sp>
    </p:spTree>
    <p:extLst>
      <p:ext uri="{BB962C8B-B14F-4D97-AF65-F5344CB8AC3E}">
        <p14:creationId xmlns:p14="http://schemas.microsoft.com/office/powerpoint/2010/main" val="320051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07CA8-E73D-D252-D9AD-12F9F4B5C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433" y="119922"/>
            <a:ext cx="5134566" cy="5771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DDA6BF-32E3-B216-9C91-B7A993935B91}"/>
              </a:ext>
            </a:extLst>
          </p:cNvPr>
          <p:cNvSpPr txBox="1"/>
          <p:nvPr/>
        </p:nvSpPr>
        <p:spPr>
          <a:xfrm>
            <a:off x="149901" y="0"/>
            <a:ext cx="61084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System Architecture :-</a:t>
            </a:r>
          </a:p>
          <a:p>
            <a:endParaRPr lang="en-IN" sz="35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A4B62F-5047-B3A3-7A14-6F538178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01" y="682094"/>
            <a:ext cx="6640643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Input: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MP3 Chapter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Processing: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ASR (Speech-to-Text):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Google </a:t>
            </a: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SpeechRecognition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NLP Engine: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</a:t>
            </a: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TextBlob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(Sentiment) + NLTK (Tokenization).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Segmentation: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Context-based splitting.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Output: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JSON Data → React Dashboard.</a:t>
            </a:r>
          </a:p>
        </p:txBody>
      </p:sp>
    </p:spTree>
    <p:extLst>
      <p:ext uri="{BB962C8B-B14F-4D97-AF65-F5344CB8AC3E}">
        <p14:creationId xmlns:p14="http://schemas.microsoft.com/office/powerpoint/2010/main" val="294208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891B1A-22CD-8809-0E5C-AD1AB024427B}"/>
              </a:ext>
            </a:extLst>
          </p:cNvPr>
          <p:cNvSpPr txBox="1"/>
          <p:nvPr/>
        </p:nvSpPr>
        <p:spPr>
          <a:xfrm>
            <a:off x="134911" y="194872"/>
            <a:ext cx="623965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Key Features:-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5B319-E1F6-28C5-A89A-95999983E3D1}"/>
              </a:ext>
            </a:extLst>
          </p:cNvPr>
          <p:cNvSpPr txBox="1"/>
          <p:nvPr/>
        </p:nvSpPr>
        <p:spPr>
          <a:xfrm>
            <a:off x="479685" y="889843"/>
            <a:ext cx="101183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700" b="1" dirty="0"/>
              <a:t>Interactive Dashboard:</a:t>
            </a:r>
          </a:p>
          <a:p>
            <a:pPr>
              <a:buNone/>
            </a:pPr>
            <a:endParaRPr lang="en-IN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/>
              <a:t>Drag &amp; Drop Upload:</a:t>
            </a:r>
            <a:r>
              <a:rPr lang="en-IN" sz="2700" dirty="0"/>
              <a:t> Easy interface for loading audiobook chapters.</a:t>
            </a:r>
          </a:p>
          <a:p>
            <a:endParaRPr lang="en-IN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/>
              <a:t>Smart Audio Player:</a:t>
            </a:r>
            <a:r>
              <a:rPr lang="en-IN" sz="2700" dirty="0"/>
              <a:t> Syncs audio with the transcript text.</a:t>
            </a:r>
          </a:p>
          <a:p>
            <a:endParaRPr lang="en-IN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/>
              <a:t>Sentiment Graph:</a:t>
            </a:r>
            <a:r>
              <a:rPr lang="en-IN" sz="2700" dirty="0"/>
              <a:t> A visual line graph showing the rising and falling tension of the story.</a:t>
            </a:r>
          </a:p>
          <a:p>
            <a:endParaRPr lang="en-IN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700" b="1" dirty="0"/>
              <a:t>Keyword Cloud:</a:t>
            </a:r>
            <a:r>
              <a:rPr lang="en-IN" sz="2700" dirty="0"/>
              <a:t> Instantly highlights important terms (</a:t>
            </a:r>
            <a:r>
              <a:rPr lang="en-IN" sz="2700" dirty="0" err="1"/>
              <a:t>e.g.“Holmes</a:t>
            </a:r>
            <a:r>
              <a:rPr lang="en-IN" sz="2700" dirty="0"/>
              <a:t>", “</a:t>
            </a:r>
            <a:r>
              <a:rPr lang="en-IN" sz="2700" dirty="0" err="1"/>
              <a:t>Sherlok</a:t>
            </a:r>
            <a:r>
              <a:rPr lang="en-IN" sz="2700" dirty="0"/>
              <a:t>").</a:t>
            </a:r>
          </a:p>
        </p:txBody>
      </p:sp>
    </p:spTree>
    <p:extLst>
      <p:ext uri="{BB962C8B-B14F-4D97-AF65-F5344CB8AC3E}">
        <p14:creationId xmlns:p14="http://schemas.microsoft.com/office/powerpoint/2010/main" val="309508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215D4-C685-E458-192E-A9289AC35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119921"/>
            <a:ext cx="11994353" cy="59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6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0D0C64-EFCB-033D-0F56-40555F455261}"/>
              </a:ext>
            </a:extLst>
          </p:cNvPr>
          <p:cNvSpPr txBox="1"/>
          <p:nvPr/>
        </p:nvSpPr>
        <p:spPr>
          <a:xfrm>
            <a:off x="149902" y="220069"/>
            <a:ext cx="61084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Technical Stack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48B5CB-2EEF-509B-3610-358EE724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015" y="1097592"/>
            <a:ext cx="11287037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Frontend: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React.js, Vite, Tailwind CSS (Modern Dark/Cyberpunk UI)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Backend: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Python, Flask (REST API).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AI Libraries: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SpeechRecognition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(Transcription)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Sc</a:t>
            </a:r>
            <a:r>
              <a:rPr lang="en-US" altLang="en-US" sz="2700" dirty="0" err="1">
                <a:latin typeface="Gill Sans MT(body)"/>
              </a:rPr>
              <a:t>TextBlob</a:t>
            </a:r>
            <a:r>
              <a:rPr lang="en-US" altLang="en-US" sz="2700" dirty="0">
                <a:latin typeface="Gill Sans MT(body)"/>
              </a:rPr>
              <a:t> (Sentiment Analysis)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Testing: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Python </a:t>
            </a: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unittest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framework.</a:t>
            </a:r>
          </a:p>
        </p:txBody>
      </p:sp>
    </p:spTree>
    <p:extLst>
      <p:ext uri="{BB962C8B-B14F-4D97-AF65-F5344CB8AC3E}">
        <p14:creationId xmlns:p14="http://schemas.microsoft.com/office/powerpoint/2010/main" val="3689727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AF00A-33F9-A055-1BBA-1FD87010FD49}"/>
              </a:ext>
            </a:extLst>
          </p:cNvPr>
          <p:cNvSpPr txBox="1"/>
          <p:nvPr/>
        </p:nvSpPr>
        <p:spPr>
          <a:xfrm>
            <a:off x="176134" y="235058"/>
            <a:ext cx="61084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Challenges Faced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69ACED-E096-02E1-1BB6-399FD73F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34" y="1045107"/>
            <a:ext cx="105268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Narrative Complexity: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Unlike news or podcasts, stories have subtle topic shifts that are harder for AI to detect.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Vocabulary: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19th-century English (e.g., "hansom cab," "gasogene") requires robust transcription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File Size: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Processing 30-minute audiobook chapters required optimizing the backend to prevent timeouts.</a:t>
            </a:r>
          </a:p>
        </p:txBody>
      </p:sp>
    </p:spTree>
    <p:extLst>
      <p:ext uri="{BB962C8B-B14F-4D97-AF65-F5344CB8AC3E}">
        <p14:creationId xmlns:p14="http://schemas.microsoft.com/office/powerpoint/2010/main" val="41792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23BC8E-4EA9-B266-6897-2691C7EDAB47}"/>
              </a:ext>
            </a:extLst>
          </p:cNvPr>
          <p:cNvSpPr txBox="1"/>
          <p:nvPr/>
        </p:nvSpPr>
        <p:spPr>
          <a:xfrm>
            <a:off x="356019" y="175698"/>
            <a:ext cx="61084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Testing &amp; Validation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F5A70B-8FCC-5878-AA29-0F4D3B930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59" y="736115"/>
            <a:ext cx="11727304" cy="57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Methodology: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Implemented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Modular Unit Testing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 for the API.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Verified transcription accuracy against known Sherlock Holmes 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Results: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✅ Successfully handles long-form MP3 uploads.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✅ Correctly rejects non-audio files (Security).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(body)"/>
              </a:rPr>
              <a:t>✅ Sentiment graphs accurately reflect plot climaxes.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82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7CA6CB-5CB1-5475-40B6-521179112A08}"/>
              </a:ext>
            </a:extLst>
          </p:cNvPr>
          <p:cNvSpPr txBox="1"/>
          <p:nvPr/>
        </p:nvSpPr>
        <p:spPr>
          <a:xfrm>
            <a:off x="266074" y="280027"/>
            <a:ext cx="6284627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Future Scope 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27B44-CFAB-91E2-D464-C92364157179}"/>
              </a:ext>
            </a:extLst>
          </p:cNvPr>
          <p:cNvSpPr txBox="1"/>
          <p:nvPr/>
        </p:nvSpPr>
        <p:spPr>
          <a:xfrm>
            <a:off x="460947" y="1379097"/>
            <a:ext cx="1103651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700" b="1" dirty="0"/>
              <a:t>Character </a:t>
            </a:r>
            <a:r>
              <a:rPr lang="en-US" sz="2700" b="1" dirty="0" err="1"/>
              <a:t>Diarization</a:t>
            </a:r>
            <a:r>
              <a:rPr lang="en-US" sz="2700" b="1" dirty="0"/>
              <a:t>:</a:t>
            </a:r>
            <a:r>
              <a:rPr lang="en-US" sz="2700" dirty="0"/>
              <a:t> Distinguishing between the Narrator, Holmes, and Watson (Speaker A vs. Speaker B).</a:t>
            </a:r>
          </a:p>
          <a:p>
            <a:endParaRPr lang="en-US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700" b="1" dirty="0"/>
              <a:t>Multi-Book Support:</a:t>
            </a:r>
            <a:r>
              <a:rPr lang="en-US" sz="2700" dirty="0"/>
              <a:t> Scaling the database to handle entire libraries.</a:t>
            </a:r>
          </a:p>
          <a:p>
            <a:endParaRPr lang="en-US" sz="2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700" b="1" dirty="0"/>
              <a:t>Voice Search:</a:t>
            </a:r>
            <a:r>
              <a:rPr lang="en-US" sz="2700" dirty="0"/>
              <a:t> Asking the app questions like </a:t>
            </a:r>
            <a:r>
              <a:rPr lang="en-US" sz="2700" i="1" dirty="0"/>
              <a:t>"Where did Holmes find the ring?"</a:t>
            </a:r>
            <a:r>
              <a:rPr lang="en-US" sz="2700" dirty="0"/>
              <a:t> and getting an audio timestamp.</a:t>
            </a:r>
          </a:p>
        </p:txBody>
      </p:sp>
    </p:spTree>
    <p:extLst>
      <p:ext uri="{BB962C8B-B14F-4D97-AF65-F5344CB8AC3E}">
        <p14:creationId xmlns:p14="http://schemas.microsoft.com/office/powerpoint/2010/main" val="59396682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3FAE51-7FEF-E555-9E07-2884558DA2B8}"/>
              </a:ext>
            </a:extLst>
          </p:cNvPr>
          <p:cNvSpPr txBox="1"/>
          <p:nvPr/>
        </p:nvSpPr>
        <p:spPr>
          <a:xfrm>
            <a:off x="176135" y="205078"/>
            <a:ext cx="610849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dirty="0"/>
              <a:t>Conclusion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85BE09-2039-5587-BE83-12C1A528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45" y="1069249"/>
            <a:ext cx="1169516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Developed a Full-Stack application for analyzing audiobooks.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Successfully applied AI/NLP to classic literature.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Demonstrated professional software practices (Git, Documentation, Testing).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Final Thought: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 (body)"/>
              </a:rPr>
              <a:t> "Unlocking the data inside stories to make literature more accessible."</a:t>
            </a:r>
          </a:p>
        </p:txBody>
      </p:sp>
    </p:spTree>
    <p:extLst>
      <p:ext uri="{BB962C8B-B14F-4D97-AF65-F5344CB8AC3E}">
        <p14:creationId xmlns:p14="http://schemas.microsoft.com/office/powerpoint/2010/main" val="365222968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B0A06-D22D-3D7E-376E-1FD04698DAF8}"/>
              </a:ext>
            </a:extLst>
          </p:cNvPr>
          <p:cNvSpPr txBox="1"/>
          <p:nvPr/>
        </p:nvSpPr>
        <p:spPr>
          <a:xfrm>
            <a:off x="4043595" y="2567226"/>
            <a:ext cx="61084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latin typeface="Bauhaus 93" panose="04030905020B02020C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108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596</TotalTime>
  <Words>599</Words>
  <Application>Microsoft Office PowerPoint</Application>
  <PresentationFormat>Widescreen</PresentationFormat>
  <Paragraphs>103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Bauhaus 93</vt:lpstr>
      <vt:lpstr>Berlin Sans FB Demi</vt:lpstr>
      <vt:lpstr>Calibri</vt:lpstr>
      <vt:lpstr>Gill Sans MT</vt:lpstr>
      <vt:lpstr>Gill Sans MT (body)</vt:lpstr>
      <vt:lpstr>Gill Sans MT(body)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Sourajit Muduli</dc:creator>
  <cp:lastModifiedBy>Sourajit Muduli</cp:lastModifiedBy>
  <cp:revision>3</cp:revision>
  <dcterms:created xsi:type="dcterms:W3CDTF">2026-01-14T09:02:03Z</dcterms:created>
  <dcterms:modified xsi:type="dcterms:W3CDTF">2026-01-20T12:48:36Z</dcterms:modified>
</cp:coreProperties>
</file>